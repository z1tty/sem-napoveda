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4"/>
  </p:sldMasterIdLst>
  <p:notesMasterIdLst>
    <p:notesMasterId r:id="rId34"/>
  </p:notesMasterIdLst>
  <p:handoutMasterIdLst>
    <p:handoutMasterId r:id="rId35"/>
  </p:handoutMasterIdLst>
  <p:sldIdLst>
    <p:sldId id="1668" r:id="rId5"/>
    <p:sldId id="1669" r:id="rId6"/>
    <p:sldId id="1670" r:id="rId7"/>
    <p:sldId id="1671" r:id="rId8"/>
    <p:sldId id="1672" r:id="rId9"/>
    <p:sldId id="1673" r:id="rId10"/>
    <p:sldId id="1674" r:id="rId11"/>
    <p:sldId id="1675" r:id="rId12"/>
    <p:sldId id="1676" r:id="rId13"/>
    <p:sldId id="1677" r:id="rId14"/>
    <p:sldId id="1678" r:id="rId15"/>
    <p:sldId id="1679" r:id="rId16"/>
    <p:sldId id="1680" r:id="rId17"/>
    <p:sldId id="1681" r:id="rId18"/>
    <p:sldId id="1682" r:id="rId19"/>
    <p:sldId id="1683" r:id="rId20"/>
    <p:sldId id="1684" r:id="rId21"/>
    <p:sldId id="1685" r:id="rId22"/>
    <p:sldId id="1686" r:id="rId23"/>
    <p:sldId id="1687" r:id="rId24"/>
    <p:sldId id="1688" r:id="rId25"/>
    <p:sldId id="1689" r:id="rId26"/>
    <p:sldId id="1690" r:id="rId27"/>
    <p:sldId id="1691" r:id="rId28"/>
    <p:sldId id="1692" r:id="rId29"/>
    <p:sldId id="1693" r:id="rId30"/>
    <p:sldId id="1694" r:id="rId31"/>
    <p:sldId id="1695" r:id="rId32"/>
    <p:sldId id="1696" r:id="rId3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0DF814-76BB-4A66-0D69-7F96836E3F3E}" name="Uživatel typu Host" initials="UH" userId="S::urn:spo:anon#535a66ae3c3964bcd1e89feff6e954aa78a2118a98efbdd9d50229a089965f1b::" providerId="AD"/>
  <p188:author id="{676C4325-8ADC-5E5A-879A-84503C82E0C8}" name="Konrádová, Petra" initials="PK" userId="S::petra.konradova@firma.seznam.cz::149ff5ab-80d7-417c-bec7-7730e6504a39" providerId="AD"/>
  <p188:author id="{FFB6D738-7EEE-DD71-B811-BCCEC2654236}" name="Sitta, Ondřej" initials="SO" userId="S::ondrej.sitta@firma.seznam.cz::77bc39ac-e7c0-4f0a-ab10-292318871928" providerId="AD"/>
  <p188:author id="{CADF4B3B-0914-C74C-C624-5ADD6F296F83}" name="Murtingerová, Kateřina" initials="MK" userId="S::katerina.murtingerova@firma.seznam.cz::7c25cea7-a165-478d-9822-4814ba190402" providerId="AD"/>
  <p188:author id="{0DF11950-26C5-3551-62D0-E994E3147B25}" name="Novotný, Jiří" initials="NJ" userId="S::jiri.novotny@firma.seznam.cz::44a49c65-8867-40f5-a782-88136ce36ab6" providerId="AD"/>
  <p188:author id="{D545C255-5097-744C-284B-FD68AAF5ED19}" name="Búřil, Tomáš" initials="" userId="S::tomas.buril@firma.seznam.cz::badcd24f-50bc-468a-8c62-ac5cf91f1e1a" providerId="AD"/>
  <p188:author id="{8499BD5C-5B6A-8C0F-D24B-B24E881EC5B7}" name="Velechovský, David" initials="VD" userId="S::david.velechovsky@firma.seznam.cz::43181d33-8233-4da0-b261-27233a35e1d2" providerId="AD"/>
  <p188:author id="{11D8067C-1EFB-F963-4927-637E0937D2A2}" name="Murtinger, Dan" initials="DM" userId="S::dan.murtinger@firma.seznam.cz::2e2f04df-c463-44ab-852f-062f1a6fed22" providerId="AD"/>
  <p188:author id="{D84B1B7C-8D6E-0428-7D8E-43D2ACE16545}" name="Libichová, Eva" initials="EL" userId="S::eva.libichova@firma.seznam.cz::cf19c650-431b-4afa-82f0-0b08db0efff0" providerId="AD"/>
  <p188:author id="{ED39AA9E-105A-2FCC-12E5-428754DE62ED}" name="Hauserová, Petra" initials="HP" userId="S::petra.hauserova@firma.seznam.cz::149ff5ab-80d7-417c-bec7-7730e6504a39" providerId="AD"/>
  <p188:author id="{832817A4-9D7F-3BE8-3CCA-E633AD717D66}" name="Vydrová 2, Veronika" initials="VV" userId="S::veronika.vydrova2@firma.seznam.cz::e65f10a5-e51f-4f40-b563-ec86ace5e5e6" providerId="AD"/>
  <p188:author id="{90853BC6-50AF-226C-A6BC-2ACCEE0DA589}" name="Novotný, Jakub" initials="NJ" userId="S::jakub.novotny@firma.seznam.cz::9f556251-5f37-4afb-9b58-4680dabce7f1" providerId="AD"/>
  <p188:author id="{3DE09BD0-6883-B2D1-88CE-3F05E0BDFFD4}" name="Bučková, Kristína" initials="KB" userId="S::kristina.buckova@firma.seznam.cz::47c98b60-23db-489e-98f2-bdfa64f7b54f" providerId="AD"/>
  <p188:author id="{72B797DB-313C-63D5-45C0-C05D4A9A1A9F}" name="Bek, Vojtěch" initials="BV" userId="S::vojtech.bek@firma.seznam.cz::dfeb9469-c362-48a6-aaba-eea9a5d5b41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2F2F2"/>
    <a:srgbClr val="CC0000"/>
    <a:srgbClr val="A0A0A0"/>
    <a:srgbClr val="000000"/>
    <a:srgbClr val="DE0000"/>
    <a:srgbClr val="FFFFFF"/>
    <a:srgbClr val="595959"/>
    <a:srgbClr val="BFBFBF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03"/>
    <p:restoredTop sz="95230"/>
  </p:normalViewPr>
  <p:slideViewPr>
    <p:cSldViewPr snapToGrid="0">
      <p:cViewPr varScale="1">
        <p:scale>
          <a:sx n="97" d="100"/>
          <a:sy n="97" d="100"/>
        </p:scale>
        <p:origin x="224" y="7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5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9AEB7764-226E-DAE1-2B9F-FE354D39FE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FB07CF-CADD-0710-67DC-F24D7D6962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F7BB8-6553-D946-97D5-1D3BA75CAACD}" type="datetimeFigureOut">
              <a:rPr lang="cs-CZ" smtClean="0"/>
              <a:t>19.03.2026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0D5A9FA-A63C-726A-1C3E-90D11586E8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3CAA60F-F33B-904A-719E-D551D517CA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C61DF-DB7B-CC49-81BE-DA88823950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61718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DCB5F-6242-764A-9890-314A982686D8}" type="datetimeFigureOut">
              <a:rPr lang="cs-CZ" smtClean="0"/>
              <a:t>19.03.2026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B62ED-4434-6F49-AF63-CFBBB188BA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1033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ázdný slide základní bíl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104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ázdný slide základní šedý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71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Úvodní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0432D28A-A433-50AB-03A0-CBCEFDF71BCC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5562891" y="1020392"/>
            <a:ext cx="6358332" cy="5837607"/>
          </a:xfrm>
          <a:prstGeom prst="rect">
            <a:avLst/>
          </a:prstGeom>
        </p:spPr>
      </p:pic>
      <p:sp>
        <p:nvSpPr>
          <p:cNvPr id="9" name="Title 6">
            <a:extLst>
              <a:ext uri="{FF2B5EF4-FFF2-40B4-BE49-F238E27FC236}">
                <a16:creationId xmlns:a16="http://schemas.microsoft.com/office/drawing/2014/main" id="{1CCD40BB-CBE6-1003-4744-3C1F2DBF6C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770" y="3153963"/>
            <a:ext cx="4652730" cy="1296000"/>
          </a:xfrm>
          <a:prstGeom prst="rect">
            <a:avLst/>
          </a:prstGeom>
          <a:noFill/>
        </p:spPr>
        <p:txBody>
          <a:bodyPr anchor="ctr" anchorCtr="0"/>
          <a:lstStyle>
            <a:lvl1pPr>
              <a:lnSpc>
                <a:spcPct val="100000"/>
              </a:lnSpc>
              <a:defRPr sz="5400" b="1" i="0">
                <a:ln>
                  <a:noFill/>
                </a:ln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 dirty="0" err="1"/>
              <a:t>Upeč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svou</a:t>
            </a:r>
            <a:r>
              <a:rPr lang="en-GB" dirty="0"/>
              <a:t> </a:t>
            </a:r>
            <a:r>
              <a:rPr lang="en-GB" dirty="0" err="1"/>
              <a:t>prezentaci</a:t>
            </a:r>
            <a:endParaRPr lang="en-GB" dirty="0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4158DFF5-7C33-6B20-68AA-DEF183BFBB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127" y="2113643"/>
            <a:ext cx="2801068" cy="47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60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Úvodní slide se jménem a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 descr="Obsah obrázku savec, Psí plemeno, domácí mazlíček, pes&#10;&#10;Popis byl vytvořen automaticky">
            <a:extLst>
              <a:ext uri="{FF2B5EF4-FFF2-40B4-BE49-F238E27FC236}">
                <a16:creationId xmlns:a16="http://schemas.microsoft.com/office/drawing/2014/main" id="{3D6F3F69-A992-07C1-90A9-1570AB00730C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6068786" y="0"/>
            <a:ext cx="6123214" cy="6858000"/>
          </a:xfrm>
          <a:prstGeom prst="rect">
            <a:avLst/>
          </a:prstGeom>
        </p:spPr>
      </p:pic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C92A3638-395B-3E65-3329-65BAC95FBB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4321" y="4949802"/>
            <a:ext cx="4591050" cy="5461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b="1"/>
            </a:lvl1pPr>
          </a:lstStyle>
          <a:p>
            <a:pPr lvl="0"/>
            <a:r>
              <a:rPr lang="en-GB" dirty="0" err="1"/>
              <a:t>Jméno</a:t>
            </a:r>
            <a:r>
              <a:rPr lang="en-GB" dirty="0"/>
              <a:t> </a:t>
            </a:r>
            <a:r>
              <a:rPr lang="en-GB" dirty="0" err="1"/>
              <a:t>Příjmení</a:t>
            </a:r>
            <a:endParaRPr lang="en-CZ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7E796DA-73EA-8EBC-44F9-08041C8C17E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23914" y="4970930"/>
            <a:ext cx="979487" cy="977812"/>
          </a:xfrm>
          <a:prstGeom prst="ellipse">
            <a:avLst/>
          </a:prstGeom>
          <a:solidFill>
            <a:srgbClr val="CC0000"/>
          </a:solidFill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CZ" dirty="0"/>
              <a:t>Sem vložíš foto</a:t>
            </a:r>
          </a:p>
        </p:txBody>
      </p:sp>
      <p:sp>
        <p:nvSpPr>
          <p:cNvPr id="20" name="Text Placeholder 22">
            <a:extLst>
              <a:ext uri="{FF2B5EF4-FFF2-40B4-BE49-F238E27FC236}">
                <a16:creationId xmlns:a16="http://schemas.microsoft.com/office/drawing/2014/main" id="{F0DF173F-0C53-CBAB-02A0-A24F3A4B96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74701" y="5543191"/>
            <a:ext cx="2779129" cy="432753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/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r>
              <a:rPr lang="cs-CZ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Název pozice, firma</a:t>
            </a:r>
          </a:p>
        </p:txBody>
      </p:sp>
      <p:sp>
        <p:nvSpPr>
          <p:cNvPr id="27" name="Title 6">
            <a:extLst>
              <a:ext uri="{FF2B5EF4-FFF2-40B4-BE49-F238E27FC236}">
                <a16:creationId xmlns:a16="http://schemas.microsoft.com/office/drawing/2014/main" id="{E80C9D40-422B-DF68-9D31-FC137D935C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770" y="1796313"/>
            <a:ext cx="4652730" cy="2585323"/>
          </a:xfrm>
          <a:prstGeom prst="rect">
            <a:avLst/>
          </a:prstGeom>
          <a:noFill/>
        </p:spPr>
        <p:txBody>
          <a:bodyPr anchor="ctr" anchorCtr="0"/>
          <a:lstStyle>
            <a:lvl1pPr>
              <a:lnSpc>
                <a:spcPct val="100000"/>
              </a:lnSpc>
              <a:defRPr sz="5400" b="1" i="0">
                <a:ln>
                  <a:noFill/>
                </a:ln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 dirty="0" err="1"/>
              <a:t>Poskládej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prezentaci</a:t>
            </a:r>
            <a:r>
              <a:rPr lang="en-GB" dirty="0"/>
              <a:t> </a:t>
            </a:r>
            <a:r>
              <a:rPr lang="en-GB" dirty="0" err="1"/>
              <a:t>jako</a:t>
            </a:r>
            <a:r>
              <a:rPr lang="en-GB" dirty="0"/>
              <a:t> puzzle</a:t>
            </a:r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1DF31C9A-1EB1-7CF3-3621-05E9B81672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127" y="1099423"/>
            <a:ext cx="2801068" cy="47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9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rázdný slide základní bíl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DC57BB8-FDFA-B16A-62D0-2BEE28B03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889" y="2532289"/>
            <a:ext cx="10146222" cy="1793419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lnSpc>
                <a:spcPct val="100000"/>
              </a:lnSpc>
              <a:defRPr sz="6000" b="1" i="0">
                <a:ln>
                  <a:noFill/>
                </a:ln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 dirty="0" err="1"/>
              <a:t>Předělový</a:t>
            </a:r>
            <a:r>
              <a:rPr lang="en-GB" dirty="0"/>
              <a:t> slide</a:t>
            </a:r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5B8F452C-DA4D-BD01-9CEB-4F604CCB58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088" y="6096706"/>
            <a:ext cx="1290647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067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ředělový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7207EEA2-D469-8DDD-E2A0-124854411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4400" y="370695"/>
            <a:ext cx="5670631" cy="6334905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14D11055-590F-2109-71B9-346509EFD8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3914" y="2781000"/>
            <a:ext cx="4620586" cy="1296000"/>
          </a:xfrm>
          <a:prstGeom prst="rect">
            <a:avLst/>
          </a:prstGeom>
          <a:noFill/>
        </p:spPr>
        <p:txBody>
          <a:bodyPr anchor="ctr" anchorCtr="0"/>
          <a:lstStyle>
            <a:lvl1pPr>
              <a:defRPr b="1" i="0">
                <a:ln>
                  <a:noFill/>
                </a:ln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 dirty="0" err="1"/>
              <a:t>Upeč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svou</a:t>
            </a:r>
            <a:r>
              <a:rPr lang="en-GB" dirty="0"/>
              <a:t> </a:t>
            </a:r>
            <a:r>
              <a:rPr lang="en-GB" dirty="0" err="1"/>
              <a:t>prezentaci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8755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creen app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5" descr="Obsah obrázku Psí plemeno, savec, pes, domácí mazlíček&#10;&#10;Popis byl vytvořen automaticky">
            <a:extLst>
              <a:ext uri="{FF2B5EF4-FFF2-40B4-BE49-F238E27FC236}">
                <a16:creationId xmlns:a16="http://schemas.microsoft.com/office/drawing/2014/main" id="{0CDF5E8B-EA82-B110-C3C3-786D75AF5B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/>
          <a:srcRect r="28644"/>
          <a:stretch/>
        </p:blipFill>
        <p:spPr>
          <a:xfrm>
            <a:off x="8242300" y="717838"/>
            <a:ext cx="3949700" cy="5664369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B3F1A38F-6CEC-AFCA-68F3-FB12BADFF6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581588" y="239151"/>
            <a:ext cx="4598447" cy="6386731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4D96987-533D-0836-472B-D92B96466C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85542" y="1254125"/>
            <a:ext cx="2190750" cy="4294299"/>
          </a:xfrm>
          <a:prstGeom prst="rect">
            <a:avLst/>
          </a:prstGeom>
          <a:solidFill>
            <a:srgbClr val="CC0000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53673D66-A082-8ECA-FEDF-C0251710A0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289" y="2367171"/>
            <a:ext cx="4598447" cy="2123658"/>
          </a:xfrm>
          <a:prstGeom prst="rect">
            <a:avLst/>
          </a:prstGeom>
          <a:noFill/>
        </p:spPr>
        <p:txBody>
          <a:bodyPr anchor="ctr" anchorCtr="0"/>
          <a:lstStyle>
            <a:lvl1pPr>
              <a:lnSpc>
                <a:spcPct val="100000"/>
              </a:lnSpc>
              <a:defRPr b="1" i="0">
                <a:ln>
                  <a:noFill/>
                </a:ln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 dirty="0" err="1"/>
              <a:t>Mluvíš</a:t>
            </a:r>
            <a:r>
              <a:rPr lang="en-GB" dirty="0"/>
              <a:t> o </a:t>
            </a:r>
            <a:r>
              <a:rPr lang="en-GB" dirty="0" err="1"/>
              <a:t>naší</a:t>
            </a:r>
            <a:r>
              <a:rPr lang="en-GB" dirty="0"/>
              <a:t> </a:t>
            </a:r>
            <a:r>
              <a:rPr lang="en-GB" dirty="0" err="1"/>
              <a:t>appce</a:t>
            </a:r>
            <a:r>
              <a:rPr lang="en-GB" dirty="0"/>
              <a:t>? </a:t>
            </a:r>
            <a:r>
              <a:rPr lang="en-GB" dirty="0" err="1"/>
              <a:t>Začni</a:t>
            </a:r>
            <a:r>
              <a:rPr lang="en-GB" dirty="0"/>
              <a:t> </a:t>
            </a:r>
            <a:r>
              <a:rPr lang="en-GB" dirty="0" err="1"/>
              <a:t>téma</a:t>
            </a:r>
            <a:r>
              <a:rPr lang="en-GB" dirty="0"/>
              <a:t> s </a:t>
            </a:r>
            <a:r>
              <a:rPr lang="en-GB" dirty="0" err="1"/>
              <a:t>ní</a:t>
            </a:r>
            <a:r>
              <a:rPr lang="en-GB" dirty="0"/>
              <a:t>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71347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creen desk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 descr="Obsah obrázku text, bílá tabule, snímek obrazovky&#10;&#10;Obsah generovaný pomocí AI může být nesprávný.">
            <a:extLst>
              <a:ext uri="{FF2B5EF4-FFF2-40B4-BE49-F238E27FC236}">
                <a16:creationId xmlns:a16="http://schemas.microsoft.com/office/drawing/2014/main" id="{91820392-B49E-5611-48DF-BB5156965A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r="30468"/>
          <a:stretch>
            <a:fillRect/>
          </a:stretch>
        </p:blipFill>
        <p:spPr>
          <a:xfrm>
            <a:off x="5118409" y="520261"/>
            <a:ext cx="7073591" cy="6023902"/>
          </a:xfrm>
          <a:prstGeom prst="rect">
            <a:avLst/>
          </a:prstGeom>
        </p:spPr>
      </p:pic>
      <p:sp>
        <p:nvSpPr>
          <p:cNvPr id="2" name="Title 6">
            <a:extLst>
              <a:ext uri="{FF2B5EF4-FFF2-40B4-BE49-F238E27FC236}">
                <a16:creationId xmlns:a16="http://schemas.microsoft.com/office/drawing/2014/main" id="{DA691397-17F4-49A9-C8EA-29C921487B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771" y="2781000"/>
            <a:ext cx="4371244" cy="1296000"/>
          </a:xfrm>
          <a:prstGeom prst="rect">
            <a:avLst/>
          </a:prstGeom>
          <a:noFill/>
        </p:spPr>
        <p:txBody>
          <a:bodyPr anchor="ctr" anchorCtr="0"/>
          <a:lstStyle>
            <a:lvl1pPr>
              <a:lnSpc>
                <a:spcPct val="100000"/>
              </a:lnSpc>
              <a:defRPr b="1" i="0">
                <a:ln>
                  <a:noFill/>
                </a:ln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 dirty="0" err="1"/>
              <a:t>Začni</a:t>
            </a:r>
            <a:r>
              <a:rPr lang="en-GB" dirty="0"/>
              <a:t> </a:t>
            </a:r>
            <a:r>
              <a:rPr lang="en-GB" dirty="0" err="1"/>
              <a:t>nové</a:t>
            </a:r>
            <a:r>
              <a:rPr lang="en-GB" dirty="0"/>
              <a:t> </a:t>
            </a:r>
            <a:r>
              <a:rPr lang="en-GB" dirty="0" err="1"/>
              <a:t>téma</a:t>
            </a:r>
            <a:r>
              <a:rPr lang="en-GB" dirty="0"/>
              <a:t> </a:t>
            </a:r>
            <a:r>
              <a:rPr lang="en-GB" dirty="0" err="1"/>
              <a:t>screenem</a:t>
            </a:r>
            <a:endParaRPr lang="en-GB" dirty="0"/>
          </a:p>
        </p:txBody>
      </p:sp>
      <p:sp>
        <p:nvSpPr>
          <p:cNvPr id="15" name="Zástupný symbol obrázku 14">
            <a:extLst>
              <a:ext uri="{FF2B5EF4-FFF2-40B4-BE49-F238E27FC236}">
                <a16:creationId xmlns:a16="http://schemas.microsoft.com/office/drawing/2014/main" id="{14707241-A800-A48F-5263-E737C5692CC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86399" y="1272989"/>
            <a:ext cx="6830292" cy="4785434"/>
          </a:xfrm>
          <a:prstGeom prst="round2SameRect">
            <a:avLst>
              <a:gd name="adj1" fmla="val 0"/>
              <a:gd name="adj2" fmla="val 1370"/>
            </a:avLst>
          </a:prstGeom>
          <a:solidFill>
            <a:srgbClr val="CC0000"/>
          </a:solidFill>
        </p:spPr>
        <p:txBody>
          <a:bodyPr/>
          <a:lstStyle/>
          <a:p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E69BA903-0000-49F5-BB46-02EB8C3EFB60}"/>
              </a:ext>
            </a:extLst>
          </p:cNvPr>
          <p:cNvSpPr txBox="1"/>
          <p:nvPr userDrawn="1"/>
        </p:nvSpPr>
        <p:spPr>
          <a:xfrm>
            <a:off x="791771" y="4271855"/>
            <a:ext cx="3465437" cy="60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cs-CZ" sz="1400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(ne na sílu, jen pokud to jde a nové téma je HP či jiná služba)</a:t>
            </a:r>
          </a:p>
        </p:txBody>
      </p:sp>
    </p:spTree>
    <p:extLst>
      <p:ext uri="{BB962C8B-B14F-4D97-AF65-F5344CB8AC3E}">
        <p14:creationId xmlns:p14="http://schemas.microsoft.com/office/powerpoint/2010/main" val="3605893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it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32AF095-A667-61DB-60AF-6725145622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1491" y="2103437"/>
            <a:ext cx="9324110" cy="1296000"/>
          </a:xfrm>
          <a:prstGeom prst="rect">
            <a:avLst/>
          </a:prstGeom>
          <a:noFill/>
        </p:spPr>
        <p:txBody>
          <a:bodyPr anchor="ctr" anchorCtr="0"/>
          <a:lstStyle>
            <a:lvl1pPr>
              <a:lnSpc>
                <a:spcPct val="100000"/>
              </a:lnSpc>
              <a:defRPr b="1" i="1">
                <a:ln>
                  <a:noFill/>
                </a:ln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„</a:t>
            </a:r>
            <a:r>
              <a:rPr lang="en-GB" dirty="0" err="1"/>
              <a:t>Lidé</a:t>
            </a:r>
            <a:r>
              <a:rPr lang="en-GB" dirty="0"/>
              <a:t> </a:t>
            </a:r>
            <a:r>
              <a:rPr lang="en-GB" dirty="0" err="1"/>
              <a:t>dají</a:t>
            </a:r>
            <a:r>
              <a:rPr lang="en-GB" dirty="0"/>
              <a:t> </a:t>
            </a:r>
            <a:r>
              <a:rPr lang="en-GB" dirty="0" err="1"/>
              <a:t>hlavně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osobní</a:t>
            </a:r>
            <a:r>
              <a:rPr lang="en-GB" dirty="0"/>
              <a:t> </a:t>
            </a:r>
            <a:r>
              <a:rPr lang="en-GB" dirty="0" err="1"/>
              <a:t>zkušenost</a:t>
            </a:r>
            <a:r>
              <a:rPr lang="en-GB" dirty="0"/>
              <a:t>, ne </a:t>
            </a:r>
            <a:r>
              <a:rPr lang="en-GB" dirty="0" err="1"/>
              <a:t>jen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vyšperkovaný</a:t>
            </a:r>
            <a:r>
              <a:rPr lang="en-GB" dirty="0"/>
              <a:t> </a:t>
            </a:r>
            <a:r>
              <a:rPr lang="en-GB" dirty="0" err="1"/>
              <a:t>popis</a:t>
            </a:r>
            <a:r>
              <a:rPr lang="en-GB" dirty="0"/>
              <a:t>.“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E162DC-B87C-47C9-9B2E-1AC21D28CE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4410902"/>
            <a:ext cx="4419601" cy="523220"/>
          </a:xfrm>
          <a:prstGeom prst="rect">
            <a:avLst/>
          </a:prstGeom>
          <a:noFill/>
          <a:ln>
            <a:noFill/>
          </a:ln>
        </p:spPr>
        <p:txBody>
          <a:bodyPr rIns="90000" anchor="ctr" anchorCtr="0"/>
          <a:lstStyle>
            <a:lvl1pPr marL="0" indent="0" algn="r">
              <a:buNone/>
              <a:defRPr/>
            </a:lvl1pPr>
          </a:lstStyle>
          <a:p>
            <a:pPr lvl="0"/>
            <a:r>
              <a:rPr lang="en-GB" dirty="0" err="1"/>
              <a:t>Klasik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033317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amotn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BBA89C80-E592-C9CE-EBC6-5FE9D19476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5790" y="4650548"/>
            <a:ext cx="4792420" cy="432753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1600" baseline="0"/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r>
              <a:rPr lang="cs-CZ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Vstupní brána pro každou službu.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727C6D-8BEE-A4C3-BF62-3978EAA47102}"/>
              </a:ext>
            </a:extLst>
          </p:cNvPr>
          <p:cNvSpPr txBox="1"/>
          <p:nvPr userDrawn="1"/>
        </p:nvSpPr>
        <p:spPr>
          <a:xfrm>
            <a:off x="5623560" y="286893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CZ" sz="3600" b="1" kern="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C0B3D913-06A0-DFB2-4E20-86846103D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0" y="2660841"/>
            <a:ext cx="7620000" cy="1708839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lnSpc>
                <a:spcPct val="100000"/>
              </a:lnSpc>
              <a:defRPr sz="3600" b="1" i="0">
                <a:ln>
                  <a:noFill/>
                </a:ln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Logo je </a:t>
            </a:r>
            <a:r>
              <a:rPr lang="en-GB" dirty="0" err="1"/>
              <a:t>jen</a:t>
            </a:r>
            <a:r>
              <a:rPr lang="en-GB" dirty="0"/>
              <a:t> </a:t>
            </a:r>
            <a:r>
              <a:rPr lang="en-GB" dirty="0" err="1"/>
              <a:t>začátek</a:t>
            </a:r>
            <a:r>
              <a:rPr lang="en-GB" dirty="0"/>
              <a:t> </a:t>
            </a:r>
            <a:r>
              <a:rPr lang="en-GB" dirty="0" err="1"/>
              <a:t>celého</a:t>
            </a:r>
            <a:r>
              <a:rPr lang="en-GB" dirty="0"/>
              <a:t> </a:t>
            </a:r>
            <a:r>
              <a:rPr lang="en-GB" dirty="0" err="1"/>
              <a:t>příběhu</a:t>
            </a:r>
            <a:r>
              <a:rPr lang="en-GB" dirty="0"/>
              <a:t>. </a:t>
            </a:r>
            <a:r>
              <a:rPr lang="en-GB" dirty="0" err="1"/>
              <a:t>Popiš</a:t>
            </a:r>
            <a:r>
              <a:rPr lang="en-GB" dirty="0"/>
              <a:t> </a:t>
            </a:r>
            <a:r>
              <a:rPr lang="en-GB" dirty="0" err="1"/>
              <a:t>službu</a:t>
            </a:r>
            <a:r>
              <a:rPr lang="en-GB" dirty="0"/>
              <a:t> </a:t>
            </a:r>
            <a:r>
              <a:rPr lang="en-GB" dirty="0" err="1"/>
              <a:t>jednoduše</a:t>
            </a:r>
            <a:r>
              <a:rPr lang="en-GB" dirty="0"/>
              <a:t> a bez </a:t>
            </a:r>
            <a:r>
              <a:rPr lang="en-GB" dirty="0" err="1"/>
              <a:t>omáčky</a:t>
            </a:r>
            <a:r>
              <a:rPr lang="en-GB" dirty="0"/>
              <a:t>.</a:t>
            </a:r>
          </a:p>
        </p:txBody>
      </p: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1F3D60A4-8E86-546D-093A-CE207FABD3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5466" y="1814382"/>
            <a:ext cx="2801068" cy="47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312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C55425CD-3A7C-EB73-D1DB-08CCBB9948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4810" y="1533349"/>
            <a:ext cx="4997340" cy="4356252"/>
          </a:xfrm>
          <a:prstGeom prst="rect">
            <a:avLst/>
          </a:prstGeom>
        </p:spPr>
        <p:txBody>
          <a:bodyPr lIns="90000"/>
          <a:lstStyle>
            <a:lvl1pPr marL="0" indent="0" algn="l">
              <a:lnSpc>
                <a:spcPts val="2400"/>
              </a:lnSpc>
              <a:spcBef>
                <a:spcPts val="1200"/>
              </a:spcBef>
              <a:buNone/>
              <a:defRPr sz="1600" baseline="0"/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r>
              <a:rPr lang="cs-CZ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Napiš úvodní text, který uvede čtenáře do obrazu. Nezačínej nikdy stejným heslem, jako máš v nadpisu. Opakuješ informaci, ubíráš si prostor a nepůsobí to profesionálně.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54D52804-49EB-5B1F-366C-8EBDDEF38D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10" y="795003"/>
            <a:ext cx="6234120" cy="49297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3600" b="1" dirty="0">
                <a:latin typeface="Arial"/>
                <a:cs typeface="Arial"/>
              </a:rPr>
              <a:t>Název kapitoly</a:t>
            </a:r>
            <a:endParaRPr lang="en-CZ" dirty="0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30FA7C37-1B05-24E4-7FE4-4A2C39D6D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088" y="6096706"/>
            <a:ext cx="1290647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255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ody text + pod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91BEA0D-664B-A3A8-24F1-407E50BCB4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810" y="1447615"/>
            <a:ext cx="4454408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/>
            </a:lvl1pPr>
          </a:lstStyle>
          <a:p>
            <a:pPr lvl="0"/>
            <a:r>
              <a:rPr lang="en-GB" dirty="0" err="1"/>
              <a:t>Podnadpis</a:t>
            </a:r>
            <a:endParaRPr lang="en-CZ" dirty="0"/>
          </a:p>
        </p:txBody>
      </p:sp>
      <p:sp>
        <p:nvSpPr>
          <p:cNvPr id="4" name="Text Placeholder 22">
            <a:extLst>
              <a:ext uri="{FF2B5EF4-FFF2-40B4-BE49-F238E27FC236}">
                <a16:creationId xmlns:a16="http://schemas.microsoft.com/office/drawing/2014/main" id="{F199689E-4CD6-92F0-7058-4CD2F5EB0B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4810" y="1993715"/>
            <a:ext cx="4997340" cy="3895886"/>
          </a:xfrm>
          <a:prstGeom prst="rect">
            <a:avLst/>
          </a:prstGeom>
        </p:spPr>
        <p:txBody>
          <a:bodyPr lIns="90000"/>
          <a:lstStyle>
            <a:lvl1pPr marL="0" indent="0" algn="l">
              <a:lnSpc>
                <a:spcPts val="2400"/>
              </a:lnSpc>
              <a:spcBef>
                <a:spcPts val="1200"/>
              </a:spcBef>
              <a:buNone/>
              <a:defRPr sz="1600" baseline="0"/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r>
              <a:rPr lang="cs-CZ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Napiš úvodní text, který uvede čtenáře do obrazu. Nezačínej nikdy stejným heslem, jako máš v nadpisu. Opakuješ informaci, ubíráš si prostor a nepůsobí to profesionálně.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6A94257E-7B1E-7311-C1C9-FD8850BA13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10" y="795003"/>
            <a:ext cx="6234120" cy="49297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3600" b="1" dirty="0">
                <a:latin typeface="Arial"/>
                <a:cs typeface="Arial"/>
              </a:rPr>
              <a:t>Název kapitoly</a:t>
            </a:r>
            <a:endParaRPr lang="en-CZ" dirty="0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89158BCD-ADE4-BEFF-E3D6-F6FE95BF12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088" y="6096706"/>
            <a:ext cx="1290647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77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adpis +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9131CC0-E343-AD14-8CC4-B7A8A48A9A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810" y="1794482"/>
            <a:ext cx="10337683" cy="3817938"/>
          </a:xfrm>
          <a:prstGeom prst="rect">
            <a:avLst/>
          </a:prstGeom>
        </p:spPr>
        <p:txBody>
          <a:bodyPr lIns="0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en-GB" dirty="0" err="1"/>
              <a:t>Pokud</a:t>
            </a:r>
            <a:r>
              <a:rPr lang="en-GB" dirty="0"/>
              <a:t> </a:t>
            </a:r>
            <a:r>
              <a:rPr lang="en-GB" dirty="0" err="1"/>
              <a:t>chceš</a:t>
            </a:r>
            <a:r>
              <a:rPr lang="en-GB" dirty="0"/>
              <a:t>, aby </a:t>
            </a:r>
            <a:r>
              <a:rPr lang="en-GB" dirty="0" err="1"/>
              <a:t>dobře</a:t>
            </a:r>
            <a:r>
              <a:rPr lang="en-GB" dirty="0"/>
              <a:t> </a:t>
            </a:r>
            <a:r>
              <a:rPr lang="en-GB" dirty="0" err="1"/>
              <a:t>vynikly</a:t>
            </a:r>
            <a:r>
              <a:rPr lang="en-GB" dirty="0"/>
              <a:t> </a:t>
            </a:r>
            <a:r>
              <a:rPr lang="en-GB" dirty="0" err="1"/>
              <a:t>všechny</a:t>
            </a:r>
            <a:r>
              <a:rPr lang="en-GB" dirty="0"/>
              <a:t> </a:t>
            </a:r>
            <a:r>
              <a:rPr lang="en-GB" dirty="0" err="1"/>
              <a:t>důležité</a:t>
            </a:r>
            <a:r>
              <a:rPr lang="en-GB" dirty="0"/>
              <a:t> </a:t>
            </a:r>
            <a:r>
              <a:rPr lang="en-GB" dirty="0" err="1"/>
              <a:t>informace</a:t>
            </a:r>
            <a:r>
              <a:rPr lang="en-GB" dirty="0"/>
              <a:t>, </a:t>
            </a:r>
            <a:r>
              <a:rPr lang="en-GB" dirty="0" err="1"/>
              <a:t>využij</a:t>
            </a:r>
            <a:r>
              <a:rPr lang="en-GB" dirty="0"/>
              <a:t> </a:t>
            </a:r>
            <a:r>
              <a:rPr lang="en-GB" dirty="0" err="1"/>
              <a:t>odrážky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A </a:t>
            </a:r>
            <a:r>
              <a:rPr lang="en-GB" dirty="0" err="1"/>
              <a:t>kdy</a:t>
            </a:r>
            <a:r>
              <a:rPr lang="en-GB" dirty="0"/>
              <a:t> je </a:t>
            </a:r>
            <a:r>
              <a:rPr lang="en-GB" dirty="0" err="1"/>
              <a:t>použít</a:t>
            </a:r>
            <a:r>
              <a:rPr lang="en-GB" dirty="0"/>
              <a:t>? </a:t>
            </a:r>
            <a:r>
              <a:rPr lang="en-GB" dirty="0" err="1"/>
              <a:t>Ve</a:t>
            </a:r>
            <a:r>
              <a:rPr lang="en-GB" dirty="0"/>
              <a:t> </a:t>
            </a:r>
            <a:r>
              <a:rPr lang="en-GB" dirty="0" err="1"/>
              <a:t>chvíli</a:t>
            </a:r>
            <a:r>
              <a:rPr lang="en-GB" dirty="0"/>
              <a:t>, </a:t>
            </a:r>
            <a:r>
              <a:rPr lang="en-GB" dirty="0" err="1"/>
              <a:t>kdy</a:t>
            </a:r>
            <a:r>
              <a:rPr lang="en-GB" dirty="0"/>
              <a:t> </a:t>
            </a:r>
            <a:r>
              <a:rPr lang="en-GB" dirty="0" err="1"/>
              <a:t>máš</a:t>
            </a:r>
            <a:r>
              <a:rPr lang="en-GB" dirty="0"/>
              <a:t> </a:t>
            </a:r>
            <a:r>
              <a:rPr lang="en-GB" dirty="0" err="1"/>
              <a:t>nějaký</a:t>
            </a:r>
            <a:r>
              <a:rPr lang="en-GB" dirty="0"/>
              <a:t> </a:t>
            </a:r>
            <a:r>
              <a:rPr lang="en-GB" dirty="0" err="1"/>
              <a:t>výčet</a:t>
            </a:r>
            <a:r>
              <a:rPr lang="en-GB" dirty="0"/>
              <a:t> </a:t>
            </a:r>
            <a:r>
              <a:rPr lang="en-GB" dirty="0" err="1"/>
              <a:t>informací</a:t>
            </a:r>
            <a:r>
              <a:rPr lang="en-GB" dirty="0"/>
              <a:t> (</a:t>
            </a:r>
            <a:r>
              <a:rPr lang="en-GB" dirty="0" err="1"/>
              <a:t>alespoň</a:t>
            </a:r>
            <a:r>
              <a:rPr lang="en-GB" dirty="0"/>
              <a:t> 2). </a:t>
            </a:r>
          </a:p>
          <a:p>
            <a:pPr lvl="0"/>
            <a:r>
              <a:rPr lang="en-GB" dirty="0"/>
              <a:t>Nebo </a:t>
            </a:r>
            <a:r>
              <a:rPr lang="en-GB" dirty="0" err="1"/>
              <a:t>třeba</a:t>
            </a:r>
            <a:r>
              <a:rPr lang="en-GB" dirty="0"/>
              <a:t> </a:t>
            </a:r>
            <a:r>
              <a:rPr lang="en-GB" dirty="0" err="1"/>
              <a:t>když</a:t>
            </a:r>
            <a:r>
              <a:rPr lang="en-GB" dirty="0"/>
              <a:t> </a:t>
            </a:r>
            <a:r>
              <a:rPr lang="en-GB" dirty="0" err="1"/>
              <a:t>nemáš</a:t>
            </a:r>
            <a:r>
              <a:rPr lang="en-GB" dirty="0"/>
              <a:t> </a:t>
            </a:r>
            <a:r>
              <a:rPr lang="en-GB" dirty="0" err="1"/>
              <a:t>žádnou</a:t>
            </a:r>
            <a:r>
              <a:rPr lang="en-GB" dirty="0"/>
              <a:t> </a:t>
            </a:r>
            <a:r>
              <a:rPr lang="en-GB" dirty="0" err="1"/>
              <a:t>tematickou</a:t>
            </a:r>
            <a:r>
              <a:rPr lang="en-GB" dirty="0"/>
              <a:t> </a:t>
            </a:r>
            <a:r>
              <a:rPr lang="en-GB" dirty="0" err="1"/>
              <a:t>ikonku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Nebo </a:t>
            </a:r>
            <a:r>
              <a:rPr lang="en-GB" dirty="0" err="1"/>
              <a:t>pokud</a:t>
            </a:r>
            <a:r>
              <a:rPr lang="en-GB" dirty="0"/>
              <a:t> </a:t>
            </a:r>
            <a:r>
              <a:rPr lang="en-GB" dirty="0" err="1"/>
              <a:t>máš</a:t>
            </a:r>
            <a:r>
              <a:rPr lang="en-GB" dirty="0"/>
              <a:t> </a:t>
            </a:r>
            <a:r>
              <a:rPr lang="en-GB" dirty="0" err="1"/>
              <a:t>nějaký</a:t>
            </a:r>
            <a:r>
              <a:rPr lang="en-GB" dirty="0"/>
              <a:t> </a:t>
            </a:r>
            <a:r>
              <a:rPr lang="en-GB" dirty="0" err="1"/>
              <a:t>strohý</a:t>
            </a:r>
            <a:r>
              <a:rPr lang="en-GB" dirty="0"/>
              <a:t> </a:t>
            </a:r>
            <a:r>
              <a:rPr lang="en-GB" dirty="0" err="1"/>
              <a:t>výčet</a:t>
            </a:r>
            <a:r>
              <a:rPr lang="en-GB" dirty="0"/>
              <a:t> (</a:t>
            </a:r>
            <a:r>
              <a:rPr lang="en-GB" dirty="0" err="1"/>
              <a:t>čehokoliv</a:t>
            </a:r>
            <a:r>
              <a:rPr lang="en-GB" dirty="0"/>
              <a:t>).</a:t>
            </a:r>
          </a:p>
          <a:p>
            <a:pPr lvl="0"/>
            <a:r>
              <a:rPr lang="en-GB" dirty="0" err="1"/>
              <a:t>Odrážky</a:t>
            </a:r>
            <a:r>
              <a:rPr lang="en-GB" dirty="0"/>
              <a:t> </a:t>
            </a:r>
            <a:r>
              <a:rPr lang="en-GB" dirty="0" err="1"/>
              <a:t>piš</a:t>
            </a:r>
            <a:r>
              <a:rPr lang="en-GB" dirty="0"/>
              <a:t> </a:t>
            </a:r>
            <a:r>
              <a:rPr lang="en-GB" dirty="0" err="1"/>
              <a:t>vždy</a:t>
            </a:r>
            <a:r>
              <a:rPr lang="en-GB" dirty="0"/>
              <a:t> </a:t>
            </a:r>
            <a:r>
              <a:rPr lang="en-GB" dirty="0" err="1"/>
              <a:t>ve</a:t>
            </a:r>
            <a:r>
              <a:rPr lang="en-GB" dirty="0"/>
              <a:t> </a:t>
            </a:r>
            <a:r>
              <a:rPr lang="en-GB" dirty="0" err="1"/>
              <a:t>formě</a:t>
            </a:r>
            <a:r>
              <a:rPr lang="en-GB" dirty="0"/>
              <a:t> </a:t>
            </a:r>
            <a:r>
              <a:rPr lang="en-GB" dirty="0" err="1"/>
              <a:t>černé</a:t>
            </a:r>
            <a:r>
              <a:rPr lang="en-GB" dirty="0"/>
              <a:t> </a:t>
            </a:r>
            <a:r>
              <a:rPr lang="en-GB" dirty="0" err="1"/>
              <a:t>tečky</a:t>
            </a:r>
            <a:r>
              <a:rPr lang="en-GB" dirty="0"/>
              <a:t> – </a:t>
            </a:r>
            <a:r>
              <a:rPr lang="en-GB" dirty="0" err="1"/>
              <a:t>žádné</a:t>
            </a:r>
            <a:r>
              <a:rPr lang="en-GB" dirty="0"/>
              <a:t> </a:t>
            </a:r>
            <a:r>
              <a:rPr lang="en-GB" dirty="0" err="1"/>
              <a:t>zobáčky</a:t>
            </a:r>
            <a:r>
              <a:rPr lang="en-GB" dirty="0"/>
              <a:t>, </a:t>
            </a:r>
            <a:r>
              <a:rPr lang="en-GB" dirty="0" err="1"/>
              <a:t>šipky</a:t>
            </a:r>
            <a:r>
              <a:rPr lang="en-GB" dirty="0"/>
              <a:t> ani </a:t>
            </a:r>
            <a:r>
              <a:rPr lang="en-GB" dirty="0" err="1"/>
              <a:t>čtverce</a:t>
            </a:r>
            <a:r>
              <a:rPr lang="en-GB" dirty="0"/>
              <a:t>.</a:t>
            </a:r>
            <a:endParaRPr lang="en-CZ" dirty="0"/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B5F26EE2-56C5-D93E-AEF5-8E47C5CFA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10" y="795003"/>
            <a:ext cx="6234120" cy="49297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3600" b="1" dirty="0">
                <a:latin typeface="Arial"/>
                <a:cs typeface="Arial"/>
              </a:rPr>
              <a:t>Zkus přidat body</a:t>
            </a:r>
            <a:endParaRPr lang="en-CZ" dirty="0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64BA2AF5-6C21-B5A2-99FC-CB4214862C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088" y="6096706"/>
            <a:ext cx="1290647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6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adpis + podnadpis +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0BB0CF8-53A0-BD61-1D11-1E9085A2D4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4810" y="1447615"/>
            <a:ext cx="4454408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/>
            </a:lvl1pPr>
          </a:lstStyle>
          <a:p>
            <a:pPr lvl="0"/>
            <a:r>
              <a:rPr lang="en-GB" dirty="0" err="1"/>
              <a:t>Podnadpis</a:t>
            </a:r>
            <a:endParaRPr lang="en-CZ" dirty="0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D417E88C-0126-24EC-C226-3F346C2C86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10" y="795003"/>
            <a:ext cx="6234120" cy="49297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3600" b="1" dirty="0">
                <a:latin typeface="Arial"/>
                <a:cs typeface="Arial"/>
              </a:rPr>
              <a:t>Zkus přidat body</a:t>
            </a:r>
            <a:endParaRPr lang="en-CZ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A964378-EA32-9F3A-0A25-8B9147FA03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810" y="2071663"/>
            <a:ext cx="10337683" cy="3817938"/>
          </a:xfrm>
          <a:prstGeom prst="rect">
            <a:avLst/>
          </a:prstGeom>
        </p:spPr>
        <p:txBody>
          <a:bodyPr lIns="0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en-GB" dirty="0" err="1"/>
              <a:t>Pokud</a:t>
            </a:r>
            <a:r>
              <a:rPr lang="en-GB" dirty="0"/>
              <a:t> </a:t>
            </a:r>
            <a:r>
              <a:rPr lang="en-GB" dirty="0" err="1"/>
              <a:t>chceš</a:t>
            </a:r>
            <a:r>
              <a:rPr lang="en-GB" dirty="0"/>
              <a:t>, aby </a:t>
            </a:r>
            <a:r>
              <a:rPr lang="en-GB" dirty="0" err="1"/>
              <a:t>dobře</a:t>
            </a:r>
            <a:r>
              <a:rPr lang="en-GB" dirty="0"/>
              <a:t> </a:t>
            </a:r>
            <a:r>
              <a:rPr lang="en-GB" dirty="0" err="1"/>
              <a:t>vynikly</a:t>
            </a:r>
            <a:r>
              <a:rPr lang="en-GB" dirty="0"/>
              <a:t> </a:t>
            </a:r>
            <a:r>
              <a:rPr lang="en-GB" dirty="0" err="1"/>
              <a:t>všechny</a:t>
            </a:r>
            <a:r>
              <a:rPr lang="en-GB" dirty="0"/>
              <a:t> </a:t>
            </a:r>
            <a:r>
              <a:rPr lang="en-GB" dirty="0" err="1"/>
              <a:t>důležité</a:t>
            </a:r>
            <a:r>
              <a:rPr lang="en-GB" dirty="0"/>
              <a:t> </a:t>
            </a:r>
            <a:r>
              <a:rPr lang="en-GB" dirty="0" err="1"/>
              <a:t>informace</a:t>
            </a:r>
            <a:r>
              <a:rPr lang="en-GB" dirty="0"/>
              <a:t>, </a:t>
            </a:r>
            <a:r>
              <a:rPr lang="en-GB" dirty="0" err="1"/>
              <a:t>využij</a:t>
            </a:r>
            <a:r>
              <a:rPr lang="en-GB" dirty="0"/>
              <a:t> </a:t>
            </a:r>
            <a:r>
              <a:rPr lang="en-GB" dirty="0" err="1"/>
              <a:t>odrážky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A </a:t>
            </a:r>
            <a:r>
              <a:rPr lang="en-GB" dirty="0" err="1"/>
              <a:t>kdy</a:t>
            </a:r>
            <a:r>
              <a:rPr lang="en-GB" dirty="0"/>
              <a:t> je </a:t>
            </a:r>
            <a:r>
              <a:rPr lang="en-GB" dirty="0" err="1"/>
              <a:t>použít</a:t>
            </a:r>
            <a:r>
              <a:rPr lang="en-GB" dirty="0"/>
              <a:t>? </a:t>
            </a:r>
            <a:r>
              <a:rPr lang="en-GB" dirty="0" err="1"/>
              <a:t>Ve</a:t>
            </a:r>
            <a:r>
              <a:rPr lang="en-GB" dirty="0"/>
              <a:t> </a:t>
            </a:r>
            <a:r>
              <a:rPr lang="en-GB" dirty="0" err="1"/>
              <a:t>chvíli</a:t>
            </a:r>
            <a:r>
              <a:rPr lang="en-GB" dirty="0"/>
              <a:t>, </a:t>
            </a:r>
            <a:r>
              <a:rPr lang="en-GB" dirty="0" err="1"/>
              <a:t>kdy</a:t>
            </a:r>
            <a:r>
              <a:rPr lang="en-GB" dirty="0"/>
              <a:t> </a:t>
            </a:r>
            <a:r>
              <a:rPr lang="en-GB" dirty="0" err="1"/>
              <a:t>máš</a:t>
            </a:r>
            <a:r>
              <a:rPr lang="en-GB" dirty="0"/>
              <a:t> </a:t>
            </a:r>
            <a:r>
              <a:rPr lang="en-GB" dirty="0" err="1"/>
              <a:t>nějaký</a:t>
            </a:r>
            <a:r>
              <a:rPr lang="en-GB" dirty="0"/>
              <a:t> </a:t>
            </a:r>
            <a:r>
              <a:rPr lang="en-GB" dirty="0" err="1"/>
              <a:t>výčet</a:t>
            </a:r>
            <a:r>
              <a:rPr lang="en-GB" dirty="0"/>
              <a:t> </a:t>
            </a:r>
            <a:r>
              <a:rPr lang="en-GB" dirty="0" err="1"/>
              <a:t>informací</a:t>
            </a:r>
            <a:r>
              <a:rPr lang="en-GB" dirty="0"/>
              <a:t> (</a:t>
            </a:r>
            <a:r>
              <a:rPr lang="en-GB" dirty="0" err="1"/>
              <a:t>alespoň</a:t>
            </a:r>
            <a:r>
              <a:rPr lang="en-GB" dirty="0"/>
              <a:t> 2). </a:t>
            </a:r>
          </a:p>
          <a:p>
            <a:pPr lvl="0"/>
            <a:r>
              <a:rPr lang="en-GB" dirty="0"/>
              <a:t>Nebo </a:t>
            </a:r>
            <a:r>
              <a:rPr lang="en-GB" dirty="0" err="1"/>
              <a:t>třeba</a:t>
            </a:r>
            <a:r>
              <a:rPr lang="en-GB" dirty="0"/>
              <a:t> </a:t>
            </a:r>
            <a:r>
              <a:rPr lang="en-GB" dirty="0" err="1"/>
              <a:t>když</a:t>
            </a:r>
            <a:r>
              <a:rPr lang="en-GB" dirty="0"/>
              <a:t> </a:t>
            </a:r>
            <a:r>
              <a:rPr lang="en-GB" dirty="0" err="1"/>
              <a:t>nemáš</a:t>
            </a:r>
            <a:r>
              <a:rPr lang="en-GB" dirty="0"/>
              <a:t> </a:t>
            </a:r>
            <a:r>
              <a:rPr lang="en-GB" dirty="0" err="1"/>
              <a:t>žádnou</a:t>
            </a:r>
            <a:r>
              <a:rPr lang="en-GB" dirty="0"/>
              <a:t> </a:t>
            </a:r>
            <a:r>
              <a:rPr lang="en-GB" dirty="0" err="1"/>
              <a:t>tematickou</a:t>
            </a:r>
            <a:r>
              <a:rPr lang="en-GB" dirty="0"/>
              <a:t> </a:t>
            </a:r>
            <a:r>
              <a:rPr lang="en-GB" dirty="0" err="1"/>
              <a:t>ikonku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Nebo </a:t>
            </a:r>
            <a:r>
              <a:rPr lang="en-GB" dirty="0" err="1"/>
              <a:t>pokud</a:t>
            </a:r>
            <a:r>
              <a:rPr lang="en-GB" dirty="0"/>
              <a:t> </a:t>
            </a:r>
            <a:r>
              <a:rPr lang="en-GB" dirty="0" err="1"/>
              <a:t>máš</a:t>
            </a:r>
            <a:r>
              <a:rPr lang="en-GB" dirty="0"/>
              <a:t> </a:t>
            </a:r>
            <a:r>
              <a:rPr lang="en-GB" dirty="0" err="1"/>
              <a:t>nějaký</a:t>
            </a:r>
            <a:r>
              <a:rPr lang="en-GB" dirty="0"/>
              <a:t> </a:t>
            </a:r>
            <a:r>
              <a:rPr lang="en-GB" dirty="0" err="1"/>
              <a:t>strohý</a:t>
            </a:r>
            <a:r>
              <a:rPr lang="en-GB" dirty="0"/>
              <a:t> </a:t>
            </a:r>
            <a:r>
              <a:rPr lang="en-GB" dirty="0" err="1"/>
              <a:t>výčet</a:t>
            </a:r>
            <a:r>
              <a:rPr lang="en-GB" dirty="0"/>
              <a:t> (</a:t>
            </a:r>
            <a:r>
              <a:rPr lang="en-GB" dirty="0" err="1"/>
              <a:t>čehokoliv</a:t>
            </a:r>
            <a:r>
              <a:rPr lang="en-GB" dirty="0"/>
              <a:t>).</a:t>
            </a:r>
          </a:p>
          <a:p>
            <a:pPr lvl="0"/>
            <a:r>
              <a:rPr lang="en-GB" dirty="0" err="1"/>
              <a:t>Odrážky</a:t>
            </a:r>
            <a:r>
              <a:rPr lang="en-GB" dirty="0"/>
              <a:t> </a:t>
            </a:r>
            <a:r>
              <a:rPr lang="en-GB" dirty="0" err="1"/>
              <a:t>piš</a:t>
            </a:r>
            <a:r>
              <a:rPr lang="en-GB" dirty="0"/>
              <a:t> </a:t>
            </a:r>
            <a:r>
              <a:rPr lang="en-GB" dirty="0" err="1"/>
              <a:t>vždy</a:t>
            </a:r>
            <a:r>
              <a:rPr lang="en-GB" dirty="0"/>
              <a:t> </a:t>
            </a:r>
            <a:r>
              <a:rPr lang="en-GB" dirty="0" err="1"/>
              <a:t>ve</a:t>
            </a:r>
            <a:r>
              <a:rPr lang="en-GB" dirty="0"/>
              <a:t> </a:t>
            </a:r>
            <a:r>
              <a:rPr lang="en-GB" dirty="0" err="1"/>
              <a:t>formě</a:t>
            </a:r>
            <a:r>
              <a:rPr lang="en-GB" dirty="0"/>
              <a:t> </a:t>
            </a:r>
            <a:r>
              <a:rPr lang="en-GB" dirty="0" err="1"/>
              <a:t>černé</a:t>
            </a:r>
            <a:r>
              <a:rPr lang="en-GB" dirty="0"/>
              <a:t> </a:t>
            </a:r>
            <a:r>
              <a:rPr lang="en-GB" dirty="0" err="1"/>
              <a:t>tečky</a:t>
            </a:r>
            <a:r>
              <a:rPr lang="en-GB" dirty="0"/>
              <a:t> – </a:t>
            </a:r>
            <a:r>
              <a:rPr lang="en-GB" dirty="0" err="1"/>
              <a:t>žádné</a:t>
            </a:r>
            <a:r>
              <a:rPr lang="en-GB" dirty="0"/>
              <a:t> </a:t>
            </a:r>
            <a:r>
              <a:rPr lang="en-GB" dirty="0" err="1"/>
              <a:t>zobáčky</a:t>
            </a:r>
            <a:r>
              <a:rPr lang="en-GB" dirty="0"/>
              <a:t>, </a:t>
            </a:r>
            <a:r>
              <a:rPr lang="en-GB" dirty="0" err="1"/>
              <a:t>šipky</a:t>
            </a:r>
            <a:r>
              <a:rPr lang="en-GB" dirty="0"/>
              <a:t> ani </a:t>
            </a:r>
            <a:r>
              <a:rPr lang="en-GB" dirty="0" err="1"/>
              <a:t>čtverce</a:t>
            </a:r>
            <a:r>
              <a:rPr lang="en-GB" dirty="0"/>
              <a:t>.</a:t>
            </a:r>
            <a:endParaRPr lang="en-CZ" dirty="0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5E6857B8-7942-BB10-2EA1-7B5B562677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088" y="6096706"/>
            <a:ext cx="1290647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64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vě katego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5A441029-5790-0A80-FECB-98DD1979FF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77643" y="3632561"/>
            <a:ext cx="2219332" cy="43143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 baseline="0"/>
            </a:lvl1pPr>
          </a:lstStyle>
          <a:p>
            <a:pPr lvl="0"/>
            <a:r>
              <a:rPr lang="en-GB" dirty="0"/>
              <a:t>Pro </a:t>
            </a:r>
            <a:r>
              <a:rPr lang="en-GB" dirty="0" err="1"/>
              <a:t>veřejnost</a:t>
            </a:r>
            <a:endParaRPr lang="en-GB" dirty="0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23790B3B-D9FA-3E7D-3BBA-86C330D5D0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15565" y="3632561"/>
            <a:ext cx="2508492" cy="43143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 baseline="0"/>
            </a:lvl1pPr>
          </a:lstStyle>
          <a:p>
            <a:pPr lvl="0"/>
            <a:r>
              <a:rPr lang="en-GB" dirty="0"/>
              <a:t>Pro </a:t>
            </a:r>
            <a:r>
              <a:rPr lang="en-GB" dirty="0" err="1"/>
              <a:t>podnikatele</a:t>
            </a:r>
            <a:endParaRPr lang="en-GB" dirty="0"/>
          </a:p>
        </p:txBody>
      </p:sp>
      <p:sp>
        <p:nvSpPr>
          <p:cNvPr id="44" name="Ovál 35">
            <a:extLst>
              <a:ext uri="{FF2B5EF4-FFF2-40B4-BE49-F238E27FC236}">
                <a16:creationId xmlns:a16="http://schemas.microsoft.com/office/drawing/2014/main" id="{846669B2-B9E6-72A2-995F-AAC26125F43E}"/>
              </a:ext>
            </a:extLst>
          </p:cNvPr>
          <p:cNvSpPr/>
          <p:nvPr/>
        </p:nvSpPr>
        <p:spPr>
          <a:xfrm>
            <a:off x="3067677" y="2393030"/>
            <a:ext cx="1039265" cy="1039265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47" name="Ovál 19">
            <a:extLst>
              <a:ext uri="{FF2B5EF4-FFF2-40B4-BE49-F238E27FC236}">
                <a16:creationId xmlns:a16="http://schemas.microsoft.com/office/drawing/2014/main" id="{1989A6FC-A5C1-B255-5136-D11DB615E075}"/>
              </a:ext>
            </a:extLst>
          </p:cNvPr>
          <p:cNvSpPr/>
          <p:nvPr/>
        </p:nvSpPr>
        <p:spPr>
          <a:xfrm>
            <a:off x="7750179" y="2393032"/>
            <a:ext cx="1039265" cy="1039265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7" name="Text Placeholder 22">
            <a:extLst>
              <a:ext uri="{FF2B5EF4-FFF2-40B4-BE49-F238E27FC236}">
                <a16:creationId xmlns:a16="http://schemas.microsoft.com/office/drawing/2014/main" id="{2AD7BFEE-2F3D-4294-F34B-220D580683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52266" y="4126695"/>
            <a:ext cx="2870086" cy="1075995"/>
          </a:xfrm>
          <a:prstGeom prst="rect">
            <a:avLst/>
          </a:prstGeom>
        </p:spPr>
        <p:txBody>
          <a:bodyPr lIns="90000"/>
          <a:lstStyle>
            <a:lvl1pPr marL="0" indent="0" algn="ctr">
              <a:lnSpc>
                <a:spcPts val="2400"/>
              </a:lnSpc>
              <a:spcBef>
                <a:spcPts val="0"/>
              </a:spcBef>
              <a:buNone/>
              <a:defRPr sz="1400">
                <a:latin typeface="+mn-lt"/>
              </a:defRPr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r>
              <a:rPr lang="cs-CZ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 některých případech můžeš chtít jen uvést cílové skupiny.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B0DCF870-4F55-CB51-2D3A-83217BB885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34768" y="4126695"/>
            <a:ext cx="2870086" cy="1075995"/>
          </a:xfrm>
          <a:prstGeom prst="rect">
            <a:avLst/>
          </a:prstGeom>
        </p:spPr>
        <p:txBody>
          <a:bodyPr lIns="90000"/>
          <a:lstStyle>
            <a:lvl1pPr marL="0" indent="0" algn="ctr">
              <a:lnSpc>
                <a:spcPts val="2400"/>
              </a:lnSpc>
              <a:spcBef>
                <a:spcPts val="0"/>
              </a:spcBef>
              <a:buNone/>
              <a:defRPr sz="1400">
                <a:latin typeface="+mn-lt"/>
              </a:defRPr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r>
              <a:rPr lang="cs-CZ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 to pro veřejnost, podnikatele či specialisty?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D46775AE-888C-3A0E-7A6A-02239F4582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10" y="795003"/>
            <a:ext cx="6234120" cy="107599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3600" b="1" dirty="0">
                <a:latin typeface="Arial"/>
                <a:cs typeface="Arial"/>
              </a:rPr>
              <a:t>Chceš ukázat cílové skupiny</a:t>
            </a:r>
            <a:endParaRPr lang="en-CZ" dirty="0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36AD0BD6-3D65-A558-9A1A-F53A243CC3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088" y="6096706"/>
            <a:ext cx="1290647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44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Čísla a statisti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ál 7">
            <a:extLst>
              <a:ext uri="{FF2B5EF4-FFF2-40B4-BE49-F238E27FC236}">
                <a16:creationId xmlns:a16="http://schemas.microsoft.com/office/drawing/2014/main" id="{0FF37282-1627-4733-4484-993B80093227}"/>
              </a:ext>
            </a:extLst>
          </p:cNvPr>
          <p:cNvSpPr/>
          <p:nvPr userDrawn="1"/>
        </p:nvSpPr>
        <p:spPr>
          <a:xfrm>
            <a:off x="1880685" y="2209216"/>
            <a:ext cx="1931066" cy="1931066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solidFill>
                <a:srgbClr val="CC0000"/>
              </a:solidFill>
            </a:endParaRP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08E9065-E33A-A6F6-246A-6A8CE7854E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7392" y="1447071"/>
            <a:ext cx="2060068" cy="5461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 i="0" baseline="0">
                <a:solidFill>
                  <a:srgbClr val="CC0000"/>
                </a:solidFill>
                <a:effectLst/>
              </a:defRPr>
            </a:lvl1pPr>
          </a:lstStyle>
          <a:p>
            <a:pPr lvl="0"/>
            <a:r>
              <a:rPr lang="en-GB" dirty="0"/>
              <a:t>80 mil.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6402162-F8D1-D55E-09DB-9C226FD367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2382" y="2901699"/>
            <a:ext cx="2060068" cy="5461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 i="0" baseline="0">
                <a:solidFill>
                  <a:srgbClr val="CC0000"/>
                </a:solidFill>
                <a:effectLst/>
              </a:defRPr>
            </a:lvl1pPr>
          </a:lstStyle>
          <a:p>
            <a:pPr lvl="0"/>
            <a:r>
              <a:rPr lang="en-GB" dirty="0"/>
              <a:t>71 %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3FC0CD2-4B7E-307B-566E-B9ABF8AD5F7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382" y="4400567"/>
            <a:ext cx="2060068" cy="5461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 i="0" baseline="0">
                <a:solidFill>
                  <a:srgbClr val="CC0000"/>
                </a:solidFill>
                <a:effectLst/>
              </a:defRPr>
            </a:lvl1pPr>
          </a:lstStyle>
          <a:p>
            <a:pPr lvl="0"/>
            <a:r>
              <a:rPr lang="en-GB" dirty="0"/>
              <a:t>2 500+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B978BB3-5ECB-30B6-69F1-D89E370EBE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44930" y="2944215"/>
            <a:ext cx="1623060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95 %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D5DDB1CF-C18A-2451-DB58-37DCEEAA59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4810" y="5830025"/>
            <a:ext cx="9763878" cy="343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aseline="0">
                <a:solidFill>
                  <a:srgbClr val="A0A0A0"/>
                </a:solidFill>
              </a:defRPr>
            </a:lvl1pPr>
          </a:lstStyle>
          <a:p>
            <a:pPr lvl="0"/>
            <a:r>
              <a:rPr lang="en-GB" dirty="0" err="1"/>
              <a:t>Zdroj</a:t>
            </a:r>
            <a:r>
              <a:rPr lang="en-GB" dirty="0"/>
              <a:t>: </a:t>
            </a:r>
            <a:r>
              <a:rPr lang="en-GB" dirty="0" err="1"/>
              <a:t>Napiš</a:t>
            </a:r>
            <a:r>
              <a:rPr lang="en-GB" dirty="0"/>
              <a:t> </a:t>
            </a:r>
            <a:r>
              <a:rPr lang="en-GB" dirty="0" err="1"/>
              <a:t>zdroj</a:t>
            </a:r>
            <a:r>
              <a:rPr lang="en-GB" dirty="0"/>
              <a:t>, </a:t>
            </a:r>
            <a:r>
              <a:rPr lang="en-GB" dirty="0" err="1"/>
              <a:t>odkud</a:t>
            </a:r>
            <a:r>
              <a:rPr lang="en-GB" dirty="0"/>
              <a:t> data/</a:t>
            </a:r>
            <a:r>
              <a:rPr lang="en-GB" dirty="0" err="1"/>
              <a:t>čísla</a:t>
            </a:r>
            <a:r>
              <a:rPr lang="en-GB" dirty="0"/>
              <a:t> z </a:t>
            </a:r>
            <a:r>
              <a:rPr lang="en-GB" dirty="0" err="1"/>
              <a:t>grafu</a:t>
            </a:r>
            <a:r>
              <a:rPr lang="en-GB" dirty="0"/>
              <a:t> </a:t>
            </a:r>
            <a:r>
              <a:rPr lang="en-GB" dirty="0" err="1"/>
              <a:t>pochází</a:t>
            </a:r>
            <a:r>
              <a:rPr lang="en-GB" dirty="0"/>
              <a:t> </a:t>
            </a:r>
            <a:endParaRPr lang="en-CZ" dirty="0"/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19BF21CE-B749-AE73-1E30-569058BD854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16184" y="4309913"/>
            <a:ext cx="2060068" cy="1025714"/>
          </a:xfrm>
          <a:prstGeom prst="rect">
            <a:avLst/>
          </a:prstGeom>
        </p:spPr>
        <p:txBody>
          <a:bodyPr lIns="90000"/>
          <a:lstStyle>
            <a:lvl1pPr marL="0" indent="0" algn="ctr">
              <a:lnSpc>
                <a:spcPts val="2400"/>
              </a:lnSpc>
              <a:spcBef>
                <a:spcPts val="0"/>
              </a:spcBef>
              <a:buNone/>
              <a:defRPr sz="1600" baseline="0"/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r>
              <a:rPr lang="cs-CZ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číslo uprostřed doplň ručně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BE2002E9-A361-CF70-32C0-FB557ED96B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7392" y="1993171"/>
            <a:ext cx="2922328" cy="646331"/>
          </a:xfrm>
          <a:prstGeom prst="rect">
            <a:avLst/>
          </a:prstGeom>
        </p:spPr>
        <p:txBody>
          <a:bodyPr lIns="90000"/>
          <a:lstStyle>
            <a:lvl1pPr marL="0" indent="0" algn="l">
              <a:lnSpc>
                <a:spcPct val="150000"/>
              </a:lnSpc>
              <a:buNone/>
              <a:defRPr sz="1400" b="0" i="0"/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r>
              <a:rPr lang="cs-CZ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obývají včely naší planetu</a:t>
            </a:r>
          </a:p>
        </p:txBody>
      </p:sp>
      <p:sp>
        <p:nvSpPr>
          <p:cNvPr id="17" name="Text Placeholder 22">
            <a:extLst>
              <a:ext uri="{FF2B5EF4-FFF2-40B4-BE49-F238E27FC236}">
                <a16:creationId xmlns:a16="http://schemas.microsoft.com/office/drawing/2014/main" id="{7C758CE6-5852-A69B-5F87-C8C46F56ED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62382" y="3490315"/>
            <a:ext cx="3591230" cy="646331"/>
          </a:xfrm>
          <a:prstGeom prst="rect">
            <a:avLst/>
          </a:prstGeom>
        </p:spPr>
        <p:txBody>
          <a:bodyPr lIns="90000"/>
          <a:lstStyle>
            <a:lvl1pPr marL="0" indent="0" algn="l">
              <a:lnSpc>
                <a:spcPct val="150000"/>
              </a:lnSpc>
              <a:buNone/>
              <a:defRPr sz="1400" b="0" i="0"/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r>
              <a:rPr lang="cs-CZ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zemského povrchu pokrývá voda </a:t>
            </a:r>
          </a:p>
        </p:txBody>
      </p: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5E0ED415-BE6A-E176-074A-962460EE9A4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62382" y="4974577"/>
            <a:ext cx="3591230" cy="646331"/>
          </a:xfrm>
          <a:prstGeom prst="rect">
            <a:avLst/>
          </a:prstGeom>
        </p:spPr>
        <p:txBody>
          <a:bodyPr lIns="90000"/>
          <a:lstStyle>
            <a:lvl1pPr marL="0" indent="0" algn="l">
              <a:lnSpc>
                <a:spcPct val="150000"/>
              </a:lnSpc>
              <a:buNone/>
              <a:defRPr sz="1400" b="0" i="0"/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r>
              <a:rPr lang="cs-CZ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 na světě druhů hlodavců</a:t>
            </a:r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938BF166-8314-6505-68D0-170E440797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10" y="795003"/>
            <a:ext cx="6234120" cy="49297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3600" b="1" dirty="0">
                <a:latin typeface="Arial"/>
                <a:cs typeface="Arial"/>
              </a:rPr>
              <a:t>Fakta &amp; čísla</a:t>
            </a:r>
            <a:endParaRPr lang="en-CZ" dirty="0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70B23B26-4834-8855-C692-8AA045F5B9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088" y="6096706"/>
            <a:ext cx="1290647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361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konky a 4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ál 35">
            <a:extLst>
              <a:ext uri="{FF2B5EF4-FFF2-40B4-BE49-F238E27FC236}">
                <a16:creationId xmlns:a16="http://schemas.microsoft.com/office/drawing/2014/main" id="{0C6CE317-2174-BD01-07E9-45D02FB1436A}"/>
              </a:ext>
            </a:extLst>
          </p:cNvPr>
          <p:cNvSpPr/>
          <p:nvPr userDrawn="1"/>
        </p:nvSpPr>
        <p:spPr>
          <a:xfrm>
            <a:off x="6450398" y="4440946"/>
            <a:ext cx="739034" cy="739034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4" name="Ovál 35">
            <a:extLst>
              <a:ext uri="{FF2B5EF4-FFF2-40B4-BE49-F238E27FC236}">
                <a16:creationId xmlns:a16="http://schemas.microsoft.com/office/drawing/2014/main" id="{41472FA7-3C62-ABA0-9A32-8A46ECA03977}"/>
              </a:ext>
            </a:extLst>
          </p:cNvPr>
          <p:cNvSpPr/>
          <p:nvPr userDrawn="1"/>
        </p:nvSpPr>
        <p:spPr>
          <a:xfrm>
            <a:off x="864419" y="2216263"/>
            <a:ext cx="739034" cy="739034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0" name="Ovál 35">
            <a:extLst>
              <a:ext uri="{FF2B5EF4-FFF2-40B4-BE49-F238E27FC236}">
                <a16:creationId xmlns:a16="http://schemas.microsoft.com/office/drawing/2014/main" id="{0E65C47F-BAC2-D2CE-B857-391613194949}"/>
              </a:ext>
            </a:extLst>
          </p:cNvPr>
          <p:cNvSpPr/>
          <p:nvPr userDrawn="1"/>
        </p:nvSpPr>
        <p:spPr>
          <a:xfrm>
            <a:off x="864419" y="4440946"/>
            <a:ext cx="739034" cy="739034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1" name="Text Placeholder 31">
            <a:extLst>
              <a:ext uri="{FF2B5EF4-FFF2-40B4-BE49-F238E27FC236}">
                <a16:creationId xmlns:a16="http://schemas.microsoft.com/office/drawing/2014/main" id="{703B2D1B-A85B-2481-1C7A-8AAEA8C2DEC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42475" y="4921210"/>
            <a:ext cx="3491528" cy="117475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100"/>
              </a:lnSpc>
              <a:spcBef>
                <a:spcPts val="0"/>
              </a:spcBef>
              <a:buNone/>
              <a:defRPr sz="1400" baseline="0"/>
            </a:lvl1pPr>
          </a:lstStyle>
          <a:p>
            <a:pPr lvl="0"/>
            <a:r>
              <a:rPr lang="en-GB" dirty="0" err="1"/>
              <a:t>Vyzdvihni</a:t>
            </a:r>
            <a:r>
              <a:rPr lang="en-GB" dirty="0"/>
              <a:t> </a:t>
            </a:r>
            <a:r>
              <a:rPr lang="en-GB" dirty="0" err="1"/>
              <a:t>jednotlivé</a:t>
            </a:r>
            <a:r>
              <a:rPr lang="en-GB" dirty="0"/>
              <a:t> </a:t>
            </a:r>
            <a:r>
              <a:rPr lang="en-GB" dirty="0" err="1"/>
              <a:t>funkce</a:t>
            </a:r>
            <a:r>
              <a:rPr lang="en-GB" dirty="0"/>
              <a:t> pro </a:t>
            </a:r>
            <a:r>
              <a:rPr lang="en-GB" dirty="0" err="1"/>
              <a:t>určitou</a:t>
            </a:r>
            <a:r>
              <a:rPr lang="en-GB" dirty="0"/>
              <a:t> </a:t>
            </a:r>
            <a:r>
              <a:rPr lang="en-GB" dirty="0" err="1"/>
              <a:t>službu</a:t>
            </a:r>
            <a:r>
              <a:rPr lang="en-GB" dirty="0"/>
              <a:t> </a:t>
            </a:r>
            <a:r>
              <a:rPr lang="en-GB" dirty="0" err="1"/>
              <a:t>či</a:t>
            </a:r>
            <a:r>
              <a:rPr lang="en-GB" dirty="0"/>
              <a:t> </a:t>
            </a:r>
            <a:r>
              <a:rPr lang="en-GB" dirty="0" err="1"/>
              <a:t>produkt</a:t>
            </a:r>
            <a:r>
              <a:rPr lang="en-GB" dirty="0"/>
              <a:t>. </a:t>
            </a:r>
            <a:r>
              <a:rPr lang="en-GB" dirty="0" err="1"/>
              <a:t>Popiš</a:t>
            </a:r>
            <a:r>
              <a:rPr lang="en-GB" dirty="0"/>
              <a:t> </a:t>
            </a:r>
            <a:r>
              <a:rPr lang="en-GB" dirty="0" err="1"/>
              <a:t>krátce</a:t>
            </a:r>
            <a:r>
              <a:rPr lang="en-GB" dirty="0"/>
              <a:t> </a:t>
            </a:r>
            <a:r>
              <a:rPr lang="en-GB" dirty="0" err="1"/>
              <a:t>jejich</a:t>
            </a:r>
            <a:r>
              <a:rPr lang="en-GB" dirty="0"/>
              <a:t> </a:t>
            </a:r>
            <a:r>
              <a:rPr lang="en-GB" dirty="0" err="1"/>
              <a:t>smysl</a:t>
            </a:r>
            <a:r>
              <a:rPr lang="en-GB" dirty="0"/>
              <a:t> a </a:t>
            </a:r>
            <a:r>
              <a:rPr lang="en-GB" dirty="0" err="1"/>
              <a:t>výhody</a:t>
            </a:r>
            <a:r>
              <a:rPr lang="en-GB" dirty="0"/>
              <a:t> a </a:t>
            </a:r>
            <a:r>
              <a:rPr lang="en-GB" dirty="0" err="1"/>
              <a:t>řekni</a:t>
            </a:r>
            <a:r>
              <a:rPr lang="en-GB" dirty="0"/>
              <a:t>, </a:t>
            </a:r>
            <a:r>
              <a:rPr lang="en-GB" dirty="0" err="1"/>
              <a:t>proč</a:t>
            </a:r>
            <a:r>
              <a:rPr lang="en-GB" dirty="0"/>
              <a:t> </a:t>
            </a:r>
            <a:r>
              <a:rPr lang="en-GB" dirty="0" err="1"/>
              <a:t>můžou</a:t>
            </a:r>
            <a:r>
              <a:rPr lang="en-GB" dirty="0"/>
              <a:t> </a:t>
            </a:r>
            <a:r>
              <a:rPr lang="en-GB" dirty="0" err="1"/>
              <a:t>potenciálním</a:t>
            </a:r>
            <a:r>
              <a:rPr lang="en-GB" dirty="0"/>
              <a:t> </a:t>
            </a:r>
            <a:r>
              <a:rPr lang="en-GB" dirty="0" err="1"/>
              <a:t>klientům</a:t>
            </a:r>
            <a:r>
              <a:rPr lang="en-GB" dirty="0"/>
              <a:t> </a:t>
            </a:r>
            <a:r>
              <a:rPr lang="en-GB" dirty="0" err="1"/>
              <a:t>přijít</a:t>
            </a:r>
            <a:r>
              <a:rPr lang="en-GB" dirty="0"/>
              <a:t> </a:t>
            </a:r>
            <a:r>
              <a:rPr lang="en-GB" dirty="0" err="1"/>
              <a:t>vhod</a:t>
            </a:r>
            <a:r>
              <a:rPr lang="en-GB" dirty="0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6A6D579-FCAE-E960-F920-0179E2DCB9A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30466" y="4414945"/>
            <a:ext cx="2639114" cy="451975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400" b="1" i="0" baseline="0"/>
            </a:lvl1pPr>
          </a:lstStyle>
          <a:p>
            <a:pPr lvl="0"/>
            <a:r>
              <a:rPr lang="en-GB" dirty="0" err="1"/>
              <a:t>Popiš</a:t>
            </a:r>
            <a:r>
              <a:rPr lang="en-GB" dirty="0"/>
              <a:t> </a:t>
            </a:r>
            <a:r>
              <a:rPr lang="en-GB" dirty="0" err="1"/>
              <a:t>funkce</a:t>
            </a:r>
            <a:endParaRPr lang="en-GB" dirty="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2532E99-A544-9380-2A92-C147393EE9D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26147" y="2149936"/>
            <a:ext cx="2639114" cy="451975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400" b="1" i="0" baseline="0"/>
            </a:lvl1pPr>
          </a:lstStyle>
          <a:p>
            <a:pPr lvl="0"/>
            <a:r>
              <a:rPr lang="en-GB" dirty="0" err="1"/>
              <a:t>Vypíchni</a:t>
            </a:r>
            <a:r>
              <a:rPr lang="en-GB" dirty="0"/>
              <a:t> </a:t>
            </a:r>
            <a:r>
              <a:rPr lang="en-GB" dirty="0" err="1"/>
              <a:t>výhody</a:t>
            </a:r>
            <a:endParaRPr lang="en-GB" dirty="0"/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15485702-25C6-7C0D-4CFF-ED2ADD9B25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21827" y="2656201"/>
            <a:ext cx="3495847" cy="117475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100"/>
              </a:lnSpc>
              <a:spcBef>
                <a:spcPts val="0"/>
              </a:spcBef>
              <a:buNone/>
              <a:defRPr sz="1400" baseline="0"/>
            </a:lvl1pPr>
          </a:lstStyle>
          <a:p>
            <a:pPr lvl="0"/>
            <a:r>
              <a:rPr lang="en-GB" dirty="0" err="1"/>
              <a:t>Sestav</a:t>
            </a:r>
            <a:r>
              <a:rPr lang="en-GB" dirty="0"/>
              <a:t> </a:t>
            </a:r>
            <a:r>
              <a:rPr lang="en-GB" dirty="0" err="1"/>
              <a:t>nejdůležitější</a:t>
            </a:r>
            <a:r>
              <a:rPr lang="en-GB" dirty="0"/>
              <a:t> </a:t>
            </a:r>
            <a:r>
              <a:rPr lang="en-GB" dirty="0" err="1"/>
              <a:t>benefity</a:t>
            </a:r>
            <a:r>
              <a:rPr lang="en-GB" dirty="0"/>
              <a:t>, </a:t>
            </a:r>
            <a:r>
              <a:rPr lang="en-GB" dirty="0" err="1"/>
              <a:t>představ</a:t>
            </a:r>
            <a:r>
              <a:rPr lang="en-GB" dirty="0"/>
              <a:t> je </a:t>
            </a:r>
            <a:r>
              <a:rPr lang="en-GB" dirty="0" err="1"/>
              <a:t>čtenářům</a:t>
            </a:r>
            <a:r>
              <a:rPr lang="en-GB" dirty="0"/>
              <a:t> a </a:t>
            </a:r>
            <a:r>
              <a:rPr lang="en-GB" dirty="0" err="1"/>
              <a:t>řekni</a:t>
            </a:r>
            <a:r>
              <a:rPr lang="en-GB" dirty="0"/>
              <a:t> </a:t>
            </a:r>
            <a:r>
              <a:rPr lang="en-GB" dirty="0" err="1"/>
              <a:t>jim</a:t>
            </a:r>
            <a:r>
              <a:rPr lang="en-GB" dirty="0"/>
              <a:t>, co od </a:t>
            </a:r>
            <a:r>
              <a:rPr lang="en-GB" dirty="0" err="1"/>
              <a:t>služby</a:t>
            </a:r>
            <a:r>
              <a:rPr lang="en-GB" dirty="0"/>
              <a:t>/</a:t>
            </a:r>
            <a:r>
              <a:rPr lang="en-GB" dirty="0" err="1"/>
              <a:t>produktu</a:t>
            </a:r>
            <a:r>
              <a:rPr lang="en-GB" dirty="0"/>
              <a:t> </a:t>
            </a:r>
            <a:r>
              <a:rPr lang="en-GB" dirty="0" err="1"/>
              <a:t>můžou</a:t>
            </a:r>
            <a:r>
              <a:rPr lang="en-GB" dirty="0"/>
              <a:t> </a:t>
            </a:r>
            <a:r>
              <a:rPr lang="en-GB" dirty="0" err="1"/>
              <a:t>získat</a:t>
            </a:r>
            <a:r>
              <a:rPr lang="en-GB" dirty="0"/>
              <a:t>.</a:t>
            </a:r>
          </a:p>
        </p:txBody>
      </p:sp>
      <p:sp>
        <p:nvSpPr>
          <p:cNvPr id="18" name="Ovál 35">
            <a:extLst>
              <a:ext uri="{FF2B5EF4-FFF2-40B4-BE49-F238E27FC236}">
                <a16:creationId xmlns:a16="http://schemas.microsoft.com/office/drawing/2014/main" id="{C03AB5D6-41A5-174A-E60D-C66FAD536A0E}"/>
              </a:ext>
            </a:extLst>
          </p:cNvPr>
          <p:cNvSpPr/>
          <p:nvPr userDrawn="1"/>
        </p:nvSpPr>
        <p:spPr>
          <a:xfrm>
            <a:off x="6446373" y="2216263"/>
            <a:ext cx="739034" cy="739034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13BE710-4951-FD0E-A66D-6CC62CDF245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408101" y="2149936"/>
            <a:ext cx="2639114" cy="451975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400" b="1" i="0" baseline="0"/>
            </a:lvl1pPr>
          </a:lstStyle>
          <a:p>
            <a:pPr lvl="0"/>
            <a:r>
              <a:rPr lang="en-GB" dirty="0" err="1"/>
              <a:t>Ukaž</a:t>
            </a:r>
            <a:r>
              <a:rPr lang="en-GB" dirty="0"/>
              <a:t> </a:t>
            </a:r>
            <a:r>
              <a:rPr lang="en-GB" dirty="0" err="1"/>
              <a:t>produkty</a:t>
            </a:r>
            <a:endParaRPr lang="en-GB" dirty="0"/>
          </a:p>
        </p:txBody>
      </p:sp>
      <p:sp>
        <p:nvSpPr>
          <p:cNvPr id="20" name="Text Placeholder 31">
            <a:extLst>
              <a:ext uri="{FF2B5EF4-FFF2-40B4-BE49-F238E27FC236}">
                <a16:creationId xmlns:a16="http://schemas.microsoft.com/office/drawing/2014/main" id="{63452596-D5C8-FCED-8709-6B074577661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403781" y="2656201"/>
            <a:ext cx="3495847" cy="117475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100"/>
              </a:lnSpc>
              <a:spcBef>
                <a:spcPts val="0"/>
              </a:spcBef>
              <a:buNone/>
              <a:defRPr sz="1400" baseline="0"/>
            </a:lvl1pPr>
          </a:lstStyle>
          <a:p>
            <a:pPr lvl="0"/>
            <a:r>
              <a:rPr lang="en-GB" dirty="0" err="1"/>
              <a:t>Ať</a:t>
            </a:r>
            <a:r>
              <a:rPr lang="en-GB" dirty="0"/>
              <a:t> </a:t>
            </a:r>
            <a:r>
              <a:rPr lang="en-GB" dirty="0" err="1"/>
              <a:t>už</a:t>
            </a:r>
            <a:r>
              <a:rPr lang="en-GB" dirty="0"/>
              <a:t> je to </a:t>
            </a:r>
            <a:r>
              <a:rPr lang="en-GB" dirty="0" err="1"/>
              <a:t>výhoda</a:t>
            </a:r>
            <a:r>
              <a:rPr lang="en-GB" dirty="0"/>
              <a:t>, </a:t>
            </a:r>
            <a:r>
              <a:rPr lang="en-GB" dirty="0" err="1"/>
              <a:t>funkce</a:t>
            </a:r>
            <a:r>
              <a:rPr lang="en-GB" dirty="0"/>
              <a:t> </a:t>
            </a:r>
            <a:r>
              <a:rPr lang="en-GB" dirty="0" err="1"/>
              <a:t>nebo</a:t>
            </a:r>
            <a:r>
              <a:rPr lang="en-GB" dirty="0"/>
              <a:t> </a:t>
            </a:r>
            <a:r>
              <a:rPr lang="en-GB" dirty="0" err="1"/>
              <a:t>produkt</a:t>
            </a:r>
            <a:r>
              <a:rPr lang="en-GB" dirty="0"/>
              <a:t>, </a:t>
            </a:r>
            <a:r>
              <a:rPr lang="en-GB" dirty="0" err="1"/>
              <a:t>pokud</a:t>
            </a:r>
            <a:r>
              <a:rPr lang="en-GB" dirty="0"/>
              <a:t> </a:t>
            </a:r>
            <a:r>
              <a:rPr lang="en-GB" dirty="0" err="1"/>
              <a:t>můžeš</a:t>
            </a:r>
            <a:r>
              <a:rPr lang="en-GB" dirty="0"/>
              <a:t>, </a:t>
            </a:r>
            <a:r>
              <a:rPr lang="en-GB" dirty="0" err="1"/>
              <a:t>využij</a:t>
            </a:r>
            <a:r>
              <a:rPr lang="en-GB" dirty="0"/>
              <a:t> </a:t>
            </a:r>
            <a:r>
              <a:rPr lang="en-GB" dirty="0" err="1"/>
              <a:t>tematické</a:t>
            </a:r>
            <a:r>
              <a:rPr lang="en-GB" dirty="0"/>
              <a:t> </a:t>
            </a:r>
            <a:r>
              <a:rPr lang="en-GB" dirty="0" err="1"/>
              <a:t>ikonky</a:t>
            </a:r>
            <a:r>
              <a:rPr lang="en-GB" dirty="0"/>
              <a:t>, </a:t>
            </a:r>
            <a:r>
              <a:rPr lang="en-GB" dirty="0" err="1"/>
              <a:t>které</a:t>
            </a:r>
            <a:r>
              <a:rPr lang="en-GB" dirty="0"/>
              <a:t> </a:t>
            </a:r>
            <a:r>
              <a:rPr lang="en-GB" dirty="0" err="1"/>
              <a:t>podtrhnou</a:t>
            </a:r>
            <a:r>
              <a:rPr lang="en-GB" dirty="0"/>
              <a:t> </a:t>
            </a:r>
            <a:r>
              <a:rPr lang="en-GB" dirty="0" err="1"/>
              <a:t>jejich</a:t>
            </a:r>
            <a:r>
              <a:rPr lang="en-GB" dirty="0"/>
              <a:t> </a:t>
            </a:r>
            <a:r>
              <a:rPr lang="en-GB" dirty="0" err="1"/>
              <a:t>důležitost</a:t>
            </a:r>
            <a:r>
              <a:rPr lang="en-GB" dirty="0"/>
              <a:t>.</a:t>
            </a:r>
          </a:p>
        </p:txBody>
      </p:sp>
      <p:sp>
        <p:nvSpPr>
          <p:cNvPr id="21" name="Text Placeholder 31">
            <a:extLst>
              <a:ext uri="{FF2B5EF4-FFF2-40B4-BE49-F238E27FC236}">
                <a16:creationId xmlns:a16="http://schemas.microsoft.com/office/drawing/2014/main" id="{4D7B84F9-C163-DA10-189E-F06C2D9DAB3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18988" y="4921210"/>
            <a:ext cx="3491528" cy="117475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100"/>
              </a:lnSpc>
              <a:spcBef>
                <a:spcPts val="0"/>
              </a:spcBef>
              <a:buNone/>
              <a:defRPr sz="1400" baseline="0"/>
            </a:lvl1pPr>
          </a:lstStyle>
          <a:p>
            <a:pPr lvl="0"/>
            <a:r>
              <a:rPr lang="en-GB" dirty="0"/>
              <a:t>V </a:t>
            </a:r>
            <a:r>
              <a:rPr lang="en-GB" dirty="0" err="1"/>
              <a:t>některých</a:t>
            </a:r>
            <a:r>
              <a:rPr lang="en-GB" dirty="0"/>
              <a:t> </a:t>
            </a:r>
            <a:r>
              <a:rPr lang="en-GB" dirty="0" err="1"/>
              <a:t>případech</a:t>
            </a:r>
            <a:r>
              <a:rPr lang="en-GB" dirty="0"/>
              <a:t> </a:t>
            </a:r>
            <a:r>
              <a:rPr lang="en-GB" dirty="0" err="1"/>
              <a:t>můžeš</a:t>
            </a:r>
            <a:r>
              <a:rPr lang="en-GB" dirty="0"/>
              <a:t> </a:t>
            </a:r>
            <a:r>
              <a:rPr lang="en-GB" dirty="0" err="1"/>
              <a:t>chtít</a:t>
            </a:r>
            <a:r>
              <a:rPr lang="en-GB" dirty="0"/>
              <a:t> </a:t>
            </a:r>
            <a:r>
              <a:rPr lang="en-GB" dirty="0" err="1"/>
              <a:t>jen</a:t>
            </a:r>
            <a:r>
              <a:rPr lang="en-GB" dirty="0"/>
              <a:t> </a:t>
            </a:r>
            <a:r>
              <a:rPr lang="en-GB" dirty="0" err="1"/>
              <a:t>znázornit</a:t>
            </a:r>
            <a:r>
              <a:rPr lang="en-GB" dirty="0"/>
              <a:t> </a:t>
            </a:r>
            <a:r>
              <a:rPr lang="en-GB" dirty="0" err="1"/>
              <a:t>třeba</a:t>
            </a:r>
            <a:r>
              <a:rPr lang="en-GB" dirty="0"/>
              <a:t> </a:t>
            </a:r>
            <a:r>
              <a:rPr lang="en-GB" dirty="0" err="1"/>
              <a:t>cílové</a:t>
            </a:r>
            <a:r>
              <a:rPr lang="en-GB" dirty="0"/>
              <a:t> </a:t>
            </a:r>
            <a:r>
              <a:rPr lang="en-GB" dirty="0" err="1"/>
              <a:t>skupiny</a:t>
            </a:r>
            <a:r>
              <a:rPr lang="en-GB" dirty="0"/>
              <a:t>: je to pro </a:t>
            </a:r>
            <a:r>
              <a:rPr lang="en-GB" dirty="0" err="1"/>
              <a:t>veřejnost</a:t>
            </a:r>
            <a:r>
              <a:rPr lang="en-GB" dirty="0"/>
              <a:t>, </a:t>
            </a:r>
            <a:r>
              <a:rPr lang="en-GB" dirty="0" err="1"/>
              <a:t>podnikatele</a:t>
            </a:r>
            <a:r>
              <a:rPr lang="en-GB" dirty="0"/>
              <a:t> </a:t>
            </a:r>
            <a:r>
              <a:rPr lang="en-GB" dirty="0" err="1"/>
              <a:t>či</a:t>
            </a:r>
            <a:r>
              <a:rPr lang="en-GB" dirty="0"/>
              <a:t> speciality? 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B5CC93B5-5063-45B7-F4BF-EFD45A9084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06979" y="4414945"/>
            <a:ext cx="2639114" cy="451975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400" b="1" i="0" baseline="0"/>
            </a:lvl1pPr>
          </a:lstStyle>
          <a:p>
            <a:pPr lvl="0"/>
            <a:r>
              <a:rPr lang="en-GB" dirty="0" err="1"/>
              <a:t>Řekni</a:t>
            </a:r>
            <a:r>
              <a:rPr lang="en-GB" dirty="0"/>
              <a:t>, pro </a:t>
            </a:r>
            <a:r>
              <a:rPr lang="en-GB" dirty="0" err="1"/>
              <a:t>koho</a:t>
            </a:r>
            <a:endParaRPr lang="en-GB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56215AD3-3FA7-F0C2-8E45-8FB79EFED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10" y="795002"/>
            <a:ext cx="6234120" cy="100608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3600" b="1" dirty="0">
                <a:latin typeface="Arial"/>
                <a:cs typeface="Arial"/>
              </a:rPr>
              <a:t>Jasně, stručně a bez okolků</a:t>
            </a:r>
            <a:endParaRPr lang="en-CZ" dirty="0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FD362BCE-24E0-951F-7693-6099896D8E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088" y="6096706"/>
            <a:ext cx="1290647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9330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Čís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F3B80F8-7925-C418-BF15-6D478B63AC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32284" y="2628905"/>
            <a:ext cx="2614613" cy="10940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00" b="1" baseline="0">
                <a:solidFill>
                  <a:srgbClr val="CC0000"/>
                </a:solidFill>
              </a:defRPr>
            </a:lvl1pPr>
          </a:lstStyle>
          <a:p>
            <a:pPr lvl="0"/>
            <a:r>
              <a:rPr lang="en-GB" dirty="0"/>
              <a:t>20 %</a:t>
            </a:r>
            <a:endParaRPr lang="en-CZ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B2EA0DD9-44E6-2A31-F1A0-23C7B7DAB1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711" y="2628903"/>
            <a:ext cx="2614613" cy="10940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00" b="1" baseline="0">
                <a:solidFill>
                  <a:srgbClr val="CC0000"/>
                </a:solidFill>
              </a:defRPr>
            </a:lvl1pPr>
          </a:lstStyle>
          <a:p>
            <a:pPr lvl="0"/>
            <a:r>
              <a:rPr lang="en-GB" dirty="0"/>
              <a:t>80 %</a:t>
            </a:r>
            <a:endParaRPr lang="en-CZ" dirty="0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911B25-BB25-5598-721C-DDBDDE762B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36675" y="3909775"/>
            <a:ext cx="3005830" cy="546100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ts val="2400"/>
              </a:lnSpc>
              <a:spcBef>
                <a:spcPts val="0"/>
              </a:spcBef>
              <a:buNone/>
              <a:defRPr sz="16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 err="1"/>
              <a:t>lidí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možná</a:t>
            </a:r>
            <a:r>
              <a:rPr lang="en-GB" dirty="0"/>
              <a:t> </a:t>
            </a:r>
            <a:r>
              <a:rPr lang="en-GB" dirty="0" err="1"/>
              <a:t>přečte</a:t>
            </a:r>
            <a:r>
              <a:rPr lang="en-GB" dirty="0"/>
              <a:t> </a:t>
            </a:r>
            <a:r>
              <a:rPr lang="en-GB" dirty="0" err="1"/>
              <a:t>tento</a:t>
            </a:r>
            <a:r>
              <a:rPr lang="en-GB" dirty="0"/>
              <a:t> „</a:t>
            </a:r>
            <a:r>
              <a:rPr lang="en-GB" dirty="0" err="1"/>
              <a:t>návod</a:t>
            </a:r>
            <a:r>
              <a:rPr lang="en-GB" dirty="0"/>
              <a:t>“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66A6C64-B72E-B563-1E19-8F446056EF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0102" y="3909775"/>
            <a:ext cx="3005830" cy="546100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ts val="2400"/>
              </a:lnSpc>
              <a:spcBef>
                <a:spcPts val="0"/>
              </a:spcBef>
              <a:buNone/>
              <a:defRPr sz="16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 err="1"/>
              <a:t>lidí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ho</a:t>
            </a:r>
            <a:r>
              <a:rPr lang="en-GB" dirty="0"/>
              <a:t> ale </a:t>
            </a:r>
            <a:r>
              <a:rPr lang="en-GB" dirty="0" err="1"/>
              <a:t>spíš</a:t>
            </a:r>
            <a:r>
              <a:rPr lang="en-GB" dirty="0"/>
              <a:t> </a:t>
            </a:r>
            <a:r>
              <a:rPr lang="en-GB" dirty="0" err="1"/>
              <a:t>jen</a:t>
            </a:r>
            <a:r>
              <a:rPr lang="en-GB" dirty="0"/>
              <a:t> </a:t>
            </a:r>
            <a:r>
              <a:rPr lang="en-GB" dirty="0" err="1"/>
              <a:t>projde</a:t>
            </a:r>
            <a:r>
              <a:rPr lang="en-GB" dirty="0"/>
              <a:t> </a:t>
            </a:r>
            <a:r>
              <a:rPr lang="en-GB" dirty="0" err="1"/>
              <a:t>očima</a:t>
            </a:r>
            <a:endParaRPr lang="en-GB" dirty="0"/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D33D9C22-E725-0A76-1FDC-18DA9C025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10" y="795003"/>
            <a:ext cx="6234120" cy="49297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3600" b="1" dirty="0">
                <a:latin typeface="Arial"/>
                <a:cs typeface="Arial"/>
              </a:rPr>
              <a:t>Čísla cinknou do oka</a:t>
            </a:r>
            <a:endParaRPr lang="en-CZ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C205B19-0C4E-9954-FA10-5691996A2E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4810" y="5830025"/>
            <a:ext cx="9763878" cy="343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aseline="0">
                <a:solidFill>
                  <a:srgbClr val="A0A0A0"/>
                </a:solidFill>
              </a:defRPr>
            </a:lvl1pPr>
          </a:lstStyle>
          <a:p>
            <a:pPr lvl="0"/>
            <a:r>
              <a:rPr lang="en-GB" dirty="0" err="1"/>
              <a:t>Zdroj</a:t>
            </a:r>
            <a:r>
              <a:rPr lang="en-GB" dirty="0"/>
              <a:t>: </a:t>
            </a:r>
            <a:r>
              <a:rPr lang="en-GB" dirty="0" err="1"/>
              <a:t>Napiš</a:t>
            </a:r>
            <a:r>
              <a:rPr lang="en-GB" dirty="0"/>
              <a:t> </a:t>
            </a:r>
            <a:r>
              <a:rPr lang="en-GB" dirty="0" err="1"/>
              <a:t>zdroj</a:t>
            </a:r>
            <a:r>
              <a:rPr lang="en-GB" dirty="0"/>
              <a:t>, </a:t>
            </a:r>
            <a:r>
              <a:rPr lang="en-GB" dirty="0" err="1"/>
              <a:t>odkud</a:t>
            </a:r>
            <a:r>
              <a:rPr lang="en-GB" dirty="0"/>
              <a:t> data/</a:t>
            </a:r>
            <a:r>
              <a:rPr lang="en-GB" dirty="0" err="1"/>
              <a:t>čísla</a:t>
            </a:r>
            <a:r>
              <a:rPr lang="en-GB" dirty="0"/>
              <a:t> z </a:t>
            </a:r>
            <a:r>
              <a:rPr lang="en-GB" dirty="0" err="1"/>
              <a:t>grafu</a:t>
            </a:r>
            <a:r>
              <a:rPr lang="en-GB" dirty="0"/>
              <a:t> </a:t>
            </a:r>
            <a:r>
              <a:rPr lang="en-GB" dirty="0" err="1"/>
              <a:t>pochází</a:t>
            </a:r>
            <a:r>
              <a:rPr lang="en-GB" dirty="0"/>
              <a:t> </a:t>
            </a:r>
            <a:endParaRPr lang="en-CZ" dirty="0"/>
          </a:p>
        </p:txBody>
      </p: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35C8B7EB-FD62-4370-54D7-97935ACDE1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088" y="6096706"/>
            <a:ext cx="1290647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586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s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0">
            <a:extLst>
              <a:ext uri="{FF2B5EF4-FFF2-40B4-BE49-F238E27FC236}">
                <a16:creationId xmlns:a16="http://schemas.microsoft.com/office/drawing/2014/main" id="{A43D59CA-8ECB-67A3-BEC2-C7FF840181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10" y="1432311"/>
            <a:ext cx="3672499" cy="100608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3600" b="1" dirty="0">
                <a:latin typeface="Arial"/>
                <a:cs typeface="Arial"/>
              </a:rPr>
              <a:t>Přenes čtenáře na místo</a:t>
            </a:r>
            <a:endParaRPr lang="en-CZ" dirty="0"/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1D551DEC-FB41-AA80-A4F5-24BD2F973A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4810" y="2726473"/>
            <a:ext cx="4997340" cy="2429052"/>
          </a:xfrm>
          <a:prstGeom prst="rect">
            <a:avLst/>
          </a:prstGeom>
        </p:spPr>
        <p:txBody>
          <a:bodyPr lIns="90000"/>
          <a:lstStyle>
            <a:lvl1pPr marL="0" indent="0" algn="l">
              <a:lnSpc>
                <a:spcPts val="2400"/>
              </a:lnSpc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  <a:defRPr sz="1600" baseline="0"/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Fotky přibližují nějakou událost nebo činnost, které se věnujeme. Popiš ji tak, aby čtenář měl pocit, že tam byl také, nebo by se toho příště rád zúčastnil.</a:t>
            </a: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Fotky musí být opravdu kvalitní. Ideálně </a:t>
            </a: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z oficiálních akcí, které fotí naši fotografové.</a:t>
            </a:r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FAE2FD27-D977-4FF2-E311-93ADFC94B6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088" y="6096706"/>
            <a:ext cx="1290647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747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lide s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2">
            <a:extLst>
              <a:ext uri="{FF2B5EF4-FFF2-40B4-BE49-F238E27FC236}">
                <a16:creationId xmlns:a16="http://schemas.microsoft.com/office/drawing/2014/main" id="{82736D08-51F8-7982-EC52-18AFD9EED7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4810" y="2170657"/>
            <a:ext cx="4997340" cy="2830835"/>
          </a:xfrm>
          <a:prstGeom prst="rect">
            <a:avLst/>
          </a:prstGeom>
        </p:spPr>
        <p:txBody>
          <a:bodyPr lIns="90000"/>
          <a:lstStyle>
            <a:lvl1pPr marL="0" indent="0" algn="l">
              <a:lnSpc>
                <a:spcPts val="2400"/>
              </a:lnSpc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  <a:defRPr sz="1600" baseline="0"/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Fotky přibližují nějakou událost nebo činnost, které se věnujeme. Popiš ji tak, aby čtenář měl pocit, že tam byl také, nebo by se toho příště rád zúčastnil.</a:t>
            </a: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Fotky musí být opravdu kvalitní. Ideálně </a:t>
            </a: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z oficiálních akcí, které fotí naši fotografové.</a:t>
            </a:r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3812A997-0F8E-885E-29F7-0D5571862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10" y="1432311"/>
            <a:ext cx="5025954" cy="49297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3600" b="1" dirty="0">
                <a:latin typeface="+mj-lt"/>
                <a:cs typeface="Arial"/>
              </a:rPr>
              <a:t>Vlož obrázek/foto</a:t>
            </a:r>
            <a:endParaRPr lang="en-CZ" dirty="0"/>
          </a:p>
        </p:txBody>
      </p:sp>
      <p:pic>
        <p:nvPicPr>
          <p:cNvPr id="4" name="Grafický objekt 3">
            <a:extLst>
              <a:ext uri="{FF2B5EF4-FFF2-40B4-BE49-F238E27FC236}">
                <a16:creationId xmlns:a16="http://schemas.microsoft.com/office/drawing/2014/main" id="{C595249B-9031-215B-D81A-2D0F09F3BB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088" y="6096706"/>
            <a:ext cx="1290647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7311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s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DEFB11DF-A0E3-F6F7-DFA4-48C480335D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C0000"/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rgbClr val="A0A0A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A43D59CA-8ECB-67A3-BEC2-C7FF840181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10" y="1432311"/>
            <a:ext cx="3672499" cy="100608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3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3600" b="1" dirty="0">
                <a:latin typeface="Arial"/>
                <a:cs typeface="Arial"/>
              </a:rPr>
              <a:t>Přenes čtenáře na místo</a:t>
            </a:r>
            <a:endParaRPr lang="en-CZ" dirty="0"/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1D551DEC-FB41-AA80-A4F5-24BD2F973A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4810" y="2726473"/>
            <a:ext cx="4997340" cy="2429052"/>
          </a:xfrm>
          <a:prstGeom prst="rect">
            <a:avLst/>
          </a:prstGeom>
        </p:spPr>
        <p:txBody>
          <a:bodyPr lIns="90000"/>
          <a:lstStyle>
            <a:lvl1pPr marL="0" indent="0" algn="l">
              <a:lnSpc>
                <a:spcPts val="2400"/>
              </a:lnSpc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  <a:defRPr sz="1600" baseline="0"/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Fotky přibližují nějakou událost nebo činnost, které se věnujeme. Popiš ji tak, aby čtenář měl pocit, že tam byl také, nebo by se toho příště rád zúčastnil.</a:t>
            </a: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Fotky musí být opravdu kvalitní. Ideálně </a:t>
            </a: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z oficiálních akcí, které fotí naši fotografové.</a:t>
            </a:r>
          </a:p>
        </p:txBody>
      </p:sp>
    </p:spTree>
    <p:extLst>
      <p:ext uri="{BB962C8B-B14F-4D97-AF65-F5344CB8AC3E}">
        <p14:creationId xmlns:p14="http://schemas.microsoft.com/office/powerpoint/2010/main" val="21842786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s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DEFB11DF-A0E3-F6F7-DFA4-48C480335D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C0000"/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rgbClr val="A0A0A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  <p:sp>
        <p:nvSpPr>
          <p:cNvPr id="2" name="Text Placeholder 22">
            <a:extLst>
              <a:ext uri="{FF2B5EF4-FFF2-40B4-BE49-F238E27FC236}">
                <a16:creationId xmlns:a16="http://schemas.microsoft.com/office/drawing/2014/main" id="{82736D08-51F8-7982-EC52-18AFD9EED7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4810" y="2170657"/>
            <a:ext cx="4997340" cy="2830835"/>
          </a:xfrm>
          <a:prstGeom prst="rect">
            <a:avLst/>
          </a:prstGeom>
        </p:spPr>
        <p:txBody>
          <a:bodyPr lIns="90000"/>
          <a:lstStyle>
            <a:lvl1pPr marL="0" indent="0" algn="l">
              <a:lnSpc>
                <a:spcPts val="2400"/>
              </a:lnSpc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  <a:defRPr sz="1600" baseline="0"/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Fotky přibližují nějakou událost nebo činnost, které se věnujeme. Popiš ji tak, aby čtenář měl pocit, že tam byl také, nebo by se toho příště rád zúčastnil.</a:t>
            </a: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Fotky musí být opravdu kvalitní. Ideálně </a:t>
            </a: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z oficiálních akcí, které fotí naši fotografové.</a:t>
            </a:r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3812A997-0F8E-885E-29F7-0D5571862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10" y="1432311"/>
            <a:ext cx="5025954" cy="49297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3600" b="1" dirty="0">
                <a:latin typeface="+mj-lt"/>
                <a:cs typeface="Arial"/>
              </a:rPr>
              <a:t>Vlož obrázek/foto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1721948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s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DEFB11DF-A0E3-F6F7-DFA4-48C480335D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CC0000"/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rgbClr val="A0A0A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A43D59CA-8ECB-67A3-BEC2-C7FF840181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6010" y="1432311"/>
            <a:ext cx="3672499" cy="1006089"/>
          </a:xfrm>
          <a:prstGeom prst="rect">
            <a:avLst/>
          </a:prstGeom>
        </p:spPr>
        <p:txBody>
          <a:bodyPr/>
          <a:lstStyle>
            <a:lvl1pPr algn="r">
              <a:lnSpc>
                <a:spcPct val="100000"/>
              </a:lnSpc>
              <a:defRPr sz="3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3600" b="1" dirty="0">
                <a:latin typeface="Arial"/>
                <a:cs typeface="Arial"/>
              </a:rPr>
              <a:t>Přenes čtenáře na místo</a:t>
            </a:r>
            <a:endParaRPr lang="en-CZ" dirty="0"/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1D551DEC-FB41-AA80-A4F5-24BD2F973A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66010" y="2726473"/>
            <a:ext cx="4997340" cy="2429052"/>
          </a:xfrm>
          <a:prstGeom prst="rect">
            <a:avLst/>
          </a:prstGeom>
        </p:spPr>
        <p:txBody>
          <a:bodyPr lIns="90000"/>
          <a:lstStyle>
            <a:lvl1pPr marL="0" indent="0" algn="l">
              <a:lnSpc>
                <a:spcPts val="2400"/>
              </a:lnSpc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  <a:defRPr sz="1600" baseline="0"/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Fotky přibližují nějakou událost nebo činnost, které se věnujeme. Popiš ji tak, aby čtenář měl pocit, že tam byl také, nebo by se toho příště rád zúčastnil.</a:t>
            </a: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Fotky musí být opravdu kvalitní. Ideálně </a:t>
            </a: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z oficiálních akcí, které fotí naši fotografové.</a:t>
            </a:r>
          </a:p>
        </p:txBody>
      </p:sp>
      <p:pic>
        <p:nvPicPr>
          <p:cNvPr id="2" name="Grafický objekt 1">
            <a:extLst>
              <a:ext uri="{FF2B5EF4-FFF2-40B4-BE49-F238E27FC236}">
                <a16:creationId xmlns:a16="http://schemas.microsoft.com/office/drawing/2014/main" id="{15B6D2DF-9468-3744-CC2E-1446F9D0D4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088" y="6096706"/>
            <a:ext cx="1290647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602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s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DEFB11DF-A0E3-F6F7-DFA4-48C480335D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CC0000"/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rgbClr val="A0A0A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5349FEC0-4846-6DF7-FB47-D40BD55663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65106" y="2170657"/>
            <a:ext cx="4997340" cy="2830835"/>
          </a:xfrm>
          <a:prstGeom prst="rect">
            <a:avLst/>
          </a:prstGeom>
        </p:spPr>
        <p:txBody>
          <a:bodyPr lIns="90000"/>
          <a:lstStyle>
            <a:lvl1pPr marL="0" indent="0" algn="l">
              <a:lnSpc>
                <a:spcPts val="2400"/>
              </a:lnSpc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  <a:defRPr sz="1600" baseline="0"/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Fotky přibližují nějakou událost nebo činnost, které se věnujeme. Popiš ji tak, aby čtenář měl pocit, že tam byl také, nebo by se toho příště rád zúčastnil.</a:t>
            </a: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Fotky musí být opravdu kvalitní. Ideálně </a:t>
            </a: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z oficiálních akcí, které fotí naši fotografové.</a:t>
            </a:r>
          </a:p>
        </p:txBody>
      </p:sp>
      <p:sp>
        <p:nvSpPr>
          <p:cNvPr id="10" name="Title 10">
            <a:extLst>
              <a:ext uri="{FF2B5EF4-FFF2-40B4-BE49-F238E27FC236}">
                <a16:creationId xmlns:a16="http://schemas.microsoft.com/office/drawing/2014/main" id="{4802A9D7-4B07-7545-E278-FAA0845FFD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5106" y="1432311"/>
            <a:ext cx="5025954" cy="49297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3600" b="1" dirty="0">
                <a:latin typeface="+mj-lt"/>
                <a:cs typeface="Arial"/>
              </a:rPr>
              <a:t>Vlož obrázek/foto</a:t>
            </a:r>
            <a:endParaRPr lang="en-CZ" dirty="0"/>
          </a:p>
        </p:txBody>
      </p:sp>
      <p:pic>
        <p:nvPicPr>
          <p:cNvPr id="2" name="Grafický objekt 1">
            <a:extLst>
              <a:ext uri="{FF2B5EF4-FFF2-40B4-BE49-F238E27FC236}">
                <a16:creationId xmlns:a16="http://schemas.microsoft.com/office/drawing/2014/main" id="{22088795-5664-6CEF-E54E-EFF4B17B8A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088" y="6096706"/>
            <a:ext cx="1290647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035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ázdný slide s nadpisem a lo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obrázku 5">
            <a:extLst>
              <a:ext uri="{FF2B5EF4-FFF2-40B4-BE49-F238E27FC236}">
                <a16:creationId xmlns:a16="http://schemas.microsoft.com/office/drawing/2014/main" id="{73EDD833-711E-9600-B00A-DFC7E8F165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1568" y="1118394"/>
            <a:ext cx="4621213" cy="4621212"/>
          </a:xfrm>
          <a:prstGeom prst="rect">
            <a:avLst/>
          </a:prstGeom>
          <a:solidFill>
            <a:srgbClr val="CC0000"/>
          </a:solidFill>
        </p:spPr>
        <p:txBody>
          <a:bodyPr vert="horz" lIns="0" tIns="0" rIns="3600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F852B90B-B364-AA1E-09FB-F061083300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4810" y="2170657"/>
            <a:ext cx="4997340" cy="2830835"/>
          </a:xfrm>
          <a:prstGeom prst="rect">
            <a:avLst/>
          </a:prstGeom>
        </p:spPr>
        <p:txBody>
          <a:bodyPr lIns="90000"/>
          <a:lstStyle>
            <a:lvl1pPr marL="0" indent="0" algn="l">
              <a:lnSpc>
                <a:spcPts val="2400"/>
              </a:lnSpc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  <a:defRPr sz="1600" baseline="0"/>
            </a:lvl1pPr>
            <a:lvl5pPr marL="55563" indent="0" algn="l">
              <a:buFontTx/>
              <a:buNone/>
              <a:tabLst/>
              <a:defRPr sz="1600"/>
            </a:lvl5pPr>
          </a:lstStyle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Fotky přibližují nějakou událost nebo činnost, které se věnujeme. Popiš ji tak, aby čtenář měl pocit, že tam byl také, nebo by se toho příště rád zúčastnil.</a:t>
            </a: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Fotky musí být opravdu kvalitní. Ideálně </a:t>
            </a:r>
          </a:p>
          <a:p>
            <a:pPr>
              <a:spcBef>
                <a:spcPts val="0"/>
              </a:spcBef>
              <a:buClr>
                <a:srgbClr val="404040"/>
              </a:buClr>
              <a:buSzPts val="1300"/>
              <a:buFont typeface="Arial"/>
              <a:buNone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z oficiálních akcí, které fotí naši fotografové.</a:t>
            </a:r>
          </a:p>
        </p:txBody>
      </p:sp>
      <p:sp>
        <p:nvSpPr>
          <p:cNvPr id="12" name="Title 10">
            <a:extLst>
              <a:ext uri="{FF2B5EF4-FFF2-40B4-BE49-F238E27FC236}">
                <a16:creationId xmlns:a16="http://schemas.microsoft.com/office/drawing/2014/main" id="{FA4EAE47-2500-DCCD-4AF9-4B213F0780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10" y="1432311"/>
            <a:ext cx="5025954" cy="49297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3600" b="1" dirty="0">
                <a:latin typeface="+mj-lt"/>
                <a:cs typeface="Arial"/>
              </a:rPr>
              <a:t>Vlož obrázek/foto</a:t>
            </a:r>
            <a:endParaRPr lang="en-CZ" dirty="0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F30738DE-2E32-5AC2-1E28-15298501D8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088" y="6096706"/>
            <a:ext cx="1290647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145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rázdný slide s nadpisem a lo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5">
            <a:extLst>
              <a:ext uri="{FF2B5EF4-FFF2-40B4-BE49-F238E27FC236}">
                <a16:creationId xmlns:a16="http://schemas.microsoft.com/office/drawing/2014/main" id="{63FB4B1D-03C2-FCD9-C7C6-5F5DA500AD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77983" y="1692644"/>
            <a:ext cx="4046963" cy="4046962"/>
          </a:xfrm>
          <a:prstGeom prst="rect">
            <a:avLst/>
          </a:prstGeom>
          <a:solidFill>
            <a:srgbClr val="CC0000"/>
          </a:solidFill>
        </p:spPr>
        <p:txBody>
          <a:bodyPr vert="horz" lIns="0" tIns="0" rIns="3600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3534BB18-7789-EF8D-C235-14BB017EDD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10" y="795003"/>
            <a:ext cx="6234120" cy="49297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3600" b="1" dirty="0">
                <a:latin typeface="Arial"/>
                <a:cs typeface="Arial"/>
              </a:rPr>
              <a:t>Čísla cinknou do oka</a:t>
            </a:r>
            <a:endParaRPr lang="en-CZ" dirty="0"/>
          </a:p>
        </p:txBody>
      </p:sp>
      <p:sp>
        <p:nvSpPr>
          <p:cNvPr id="4" name="Zástupný symbol obrázku 5">
            <a:extLst>
              <a:ext uri="{FF2B5EF4-FFF2-40B4-BE49-F238E27FC236}">
                <a16:creationId xmlns:a16="http://schemas.microsoft.com/office/drawing/2014/main" id="{F64F633A-4C46-A645-D59D-359250672E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94764" y="1692644"/>
            <a:ext cx="4046963" cy="4046962"/>
          </a:xfrm>
          <a:prstGeom prst="rect">
            <a:avLst/>
          </a:prstGeom>
          <a:solidFill>
            <a:srgbClr val="CC0000"/>
          </a:solidFill>
        </p:spPr>
        <p:txBody>
          <a:bodyPr vert="horz" lIns="0" tIns="0" rIns="3600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B717E06B-3608-0127-8180-9CDB23C844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088" y="6096706"/>
            <a:ext cx="1290647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93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rázdný slide s nadpisem a lo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obrázku 5">
            <a:extLst>
              <a:ext uri="{FF2B5EF4-FFF2-40B4-BE49-F238E27FC236}">
                <a16:creationId xmlns:a16="http://schemas.microsoft.com/office/drawing/2014/main" id="{73EDD833-711E-9600-B00A-DFC7E8F165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1568" y="1118394"/>
            <a:ext cx="4621213" cy="4621212"/>
          </a:xfrm>
          <a:prstGeom prst="rect">
            <a:avLst/>
          </a:prstGeom>
          <a:solidFill>
            <a:srgbClr val="CC0000"/>
          </a:solidFill>
        </p:spPr>
        <p:txBody>
          <a:bodyPr vert="horz" lIns="0" tIns="0" rIns="3600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  <p:sp>
        <p:nvSpPr>
          <p:cNvPr id="2" name="Zástupný symbol obrázku 5">
            <a:extLst>
              <a:ext uri="{FF2B5EF4-FFF2-40B4-BE49-F238E27FC236}">
                <a16:creationId xmlns:a16="http://schemas.microsoft.com/office/drawing/2014/main" id="{63FB4B1D-03C2-FCD9-C7C6-5F5DA500AD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79219" y="1118394"/>
            <a:ext cx="4621213" cy="4621212"/>
          </a:xfrm>
          <a:prstGeom prst="rect">
            <a:avLst/>
          </a:prstGeom>
          <a:solidFill>
            <a:srgbClr val="CC0000"/>
          </a:solidFill>
        </p:spPr>
        <p:txBody>
          <a:bodyPr vert="horz" lIns="0" tIns="0" rIns="3600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  <p:pic>
        <p:nvPicPr>
          <p:cNvPr id="4" name="Grafický objekt 3">
            <a:extLst>
              <a:ext uri="{FF2B5EF4-FFF2-40B4-BE49-F238E27FC236}">
                <a16:creationId xmlns:a16="http://schemas.microsoft.com/office/drawing/2014/main" id="{D7DE82C5-38BC-3A57-453F-0C32CCA0F9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088" y="6096706"/>
            <a:ext cx="1290647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6283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rázdný slide s nadpisem a lo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obrázku 5">
            <a:extLst>
              <a:ext uri="{FF2B5EF4-FFF2-40B4-BE49-F238E27FC236}">
                <a16:creationId xmlns:a16="http://schemas.microsoft.com/office/drawing/2014/main" id="{3CAEE690-F6F9-717B-9589-B737F840832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81646" y="0"/>
            <a:ext cx="6010353" cy="6858000"/>
          </a:xfrm>
          <a:prstGeom prst="rect">
            <a:avLst/>
          </a:prstGeom>
          <a:solidFill>
            <a:srgbClr val="CC0000"/>
          </a:solidFill>
        </p:spPr>
        <p:txBody>
          <a:bodyPr vert="horz" lIns="0" tIns="0" rIns="3600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  <p:sp>
        <p:nvSpPr>
          <p:cNvPr id="7" name="Zástupný symbol obrázku 5">
            <a:extLst>
              <a:ext uri="{FF2B5EF4-FFF2-40B4-BE49-F238E27FC236}">
                <a16:creationId xmlns:a16="http://schemas.microsoft.com/office/drawing/2014/main" id="{F93F84A2-9E7A-32F4-054B-FB86719D749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" y="0"/>
            <a:ext cx="6010353" cy="6858000"/>
          </a:xfrm>
          <a:prstGeom prst="rect">
            <a:avLst/>
          </a:prstGeom>
          <a:solidFill>
            <a:srgbClr val="CC0000"/>
          </a:solidFill>
        </p:spPr>
        <p:txBody>
          <a:bodyPr vert="horz" lIns="0" tIns="0" rIns="3600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94819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rázdný slide s nadpisem a lo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ástupný symbol obrázku 5">
            <a:extLst>
              <a:ext uri="{FF2B5EF4-FFF2-40B4-BE49-F238E27FC236}">
                <a16:creationId xmlns:a16="http://schemas.microsoft.com/office/drawing/2014/main" id="{EDA13770-2D8F-B4B9-6CCB-E5BDEDAA33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81646" y="0"/>
            <a:ext cx="6010353" cy="6858000"/>
          </a:xfrm>
          <a:prstGeom prst="rect">
            <a:avLst/>
          </a:prstGeom>
          <a:solidFill>
            <a:srgbClr val="CC0000"/>
          </a:solidFill>
        </p:spPr>
        <p:txBody>
          <a:bodyPr vert="horz" lIns="0" tIns="0" rIns="3600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  <p:sp>
        <p:nvSpPr>
          <p:cNvPr id="8" name="Zástupný symbol obrázku 5">
            <a:extLst>
              <a:ext uri="{FF2B5EF4-FFF2-40B4-BE49-F238E27FC236}">
                <a16:creationId xmlns:a16="http://schemas.microsoft.com/office/drawing/2014/main" id="{57BC3522-40FC-62F6-9292-14D6B1B8B3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" y="0"/>
            <a:ext cx="6010353" cy="3343353"/>
          </a:xfrm>
          <a:prstGeom prst="rect">
            <a:avLst/>
          </a:prstGeom>
          <a:solidFill>
            <a:srgbClr val="CC0000"/>
          </a:solidFill>
        </p:spPr>
        <p:txBody>
          <a:bodyPr vert="horz" lIns="0" tIns="0" rIns="3600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  <p:sp>
        <p:nvSpPr>
          <p:cNvPr id="10" name="Zástupný symbol obrázku 5">
            <a:extLst>
              <a:ext uri="{FF2B5EF4-FFF2-40B4-BE49-F238E27FC236}">
                <a16:creationId xmlns:a16="http://schemas.microsoft.com/office/drawing/2014/main" id="{D7128903-0DFE-E61D-B0C5-837C9BEEC2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3514645"/>
            <a:ext cx="6010353" cy="3343353"/>
          </a:xfrm>
          <a:prstGeom prst="rect">
            <a:avLst/>
          </a:prstGeom>
          <a:solidFill>
            <a:srgbClr val="CC0000"/>
          </a:solidFill>
        </p:spPr>
        <p:txBody>
          <a:bodyPr vert="horz" lIns="0" tIns="0" rIns="3600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93870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rázdný slide s nadpisem a lo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ástupný symbol obrázku 5">
            <a:extLst>
              <a:ext uri="{FF2B5EF4-FFF2-40B4-BE49-F238E27FC236}">
                <a16:creationId xmlns:a16="http://schemas.microsoft.com/office/drawing/2014/main" id="{EDA13770-2D8F-B4B9-6CCB-E5BDEDAA33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CC0000"/>
          </a:solidFill>
        </p:spPr>
        <p:txBody>
          <a:bodyPr vert="horz" lIns="0" tIns="0" rIns="3600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04905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esktop screen služb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6" descr="Obsah obrázku Obdélník, snímek obrazovky&#10;&#10;Popis byl vytvořen automaticky">
            <a:extLst>
              <a:ext uri="{FF2B5EF4-FFF2-40B4-BE49-F238E27FC236}">
                <a16:creationId xmlns:a16="http://schemas.microsoft.com/office/drawing/2014/main" id="{FD3BFFBA-ED53-1AC5-FA0B-6F344726EA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8749" b="13030"/>
          <a:stretch/>
        </p:blipFill>
        <p:spPr>
          <a:xfrm>
            <a:off x="4478623" y="1283019"/>
            <a:ext cx="7713377" cy="5574981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D5B9033-26D2-EEDB-BD7A-11CDF7213E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91070" y="2068831"/>
            <a:ext cx="7300930" cy="4789170"/>
          </a:xfrm>
          <a:prstGeom prst="rect">
            <a:avLst/>
          </a:prstGeom>
          <a:solidFill>
            <a:srgbClr val="CC0000"/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rgbClr val="A0A0A0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33264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lastní rozložení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Obdélník, snímek obrazovky&#10;&#10;Popis byl vytvořen automaticky">
            <a:extLst>
              <a:ext uri="{FF2B5EF4-FFF2-40B4-BE49-F238E27FC236}">
                <a16:creationId xmlns:a16="http://schemas.microsoft.com/office/drawing/2014/main" id="{8533C1A7-29EA-45C6-89CA-657003E677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r="-514" b="2099"/>
          <a:stretch/>
        </p:blipFill>
        <p:spPr>
          <a:xfrm>
            <a:off x="2167248" y="1163124"/>
            <a:ext cx="7857503" cy="4531751"/>
          </a:xfrm>
          <a:prstGeom prst="rect">
            <a:avLst/>
          </a:prstGeom>
        </p:spPr>
      </p:pic>
      <p:sp>
        <p:nvSpPr>
          <p:cNvPr id="9" name="Zástupný symbol obrázku 14">
            <a:extLst>
              <a:ext uri="{FF2B5EF4-FFF2-40B4-BE49-F238E27FC236}">
                <a16:creationId xmlns:a16="http://schemas.microsoft.com/office/drawing/2014/main" id="{0A887B0A-B13B-5AF6-BD4A-DA11169CE3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49281" y="1742171"/>
            <a:ext cx="7246992" cy="3679981"/>
          </a:xfrm>
          <a:prstGeom prst="round2SameRect">
            <a:avLst>
              <a:gd name="adj1" fmla="val 0"/>
              <a:gd name="adj2" fmla="val 1370"/>
            </a:avLst>
          </a:prstGeom>
          <a:solidFill>
            <a:srgbClr val="CC0000"/>
          </a:solidFill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8483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lastní rozložení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Obdélník, snímek obrazovky&#10;&#10;Popis byl vytvořen automaticky">
            <a:extLst>
              <a:ext uri="{FF2B5EF4-FFF2-40B4-BE49-F238E27FC236}">
                <a16:creationId xmlns:a16="http://schemas.microsoft.com/office/drawing/2014/main" id="{8533C1A7-29EA-45C6-89CA-657003E677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r="-514" b="2099"/>
          <a:stretch/>
        </p:blipFill>
        <p:spPr>
          <a:xfrm>
            <a:off x="1748242" y="968399"/>
            <a:ext cx="7857503" cy="4531751"/>
          </a:xfrm>
          <a:prstGeom prst="rect">
            <a:avLst/>
          </a:prstGeom>
        </p:spPr>
      </p:pic>
      <p:sp>
        <p:nvSpPr>
          <p:cNvPr id="9" name="Zástupný symbol obrázku 14">
            <a:extLst>
              <a:ext uri="{FF2B5EF4-FFF2-40B4-BE49-F238E27FC236}">
                <a16:creationId xmlns:a16="http://schemas.microsoft.com/office/drawing/2014/main" id="{0A887B0A-B13B-5AF6-BD4A-DA11169CE3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30275" y="1547446"/>
            <a:ext cx="7246992" cy="3679981"/>
          </a:xfrm>
          <a:prstGeom prst="round2SameRect">
            <a:avLst>
              <a:gd name="adj1" fmla="val 0"/>
              <a:gd name="adj2" fmla="val 1370"/>
            </a:avLst>
          </a:prstGeom>
          <a:solidFill>
            <a:srgbClr val="CC0000"/>
          </a:solidFill>
        </p:spPr>
        <p:txBody>
          <a:bodyPr/>
          <a:lstStyle/>
          <a:p>
            <a:endParaRPr lang="cs-CZ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250F3C66-001B-ED1A-E314-B8ACFD1E51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433742" y="1547446"/>
            <a:ext cx="3686840" cy="5120608"/>
          </a:xfrm>
          <a:prstGeom prst="rect">
            <a:avLst/>
          </a:prstGeom>
        </p:spPr>
      </p:pic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C70966BD-59ED-3398-3259-750A953163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99042" y="2355015"/>
            <a:ext cx="1756450" cy="3442986"/>
          </a:xfrm>
          <a:prstGeom prst="rect">
            <a:avLst/>
          </a:prstGeom>
          <a:solidFill>
            <a:srgbClr val="CC0000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5982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creen služby mobil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988965B2-A7B5-EF9E-E4B4-A181005FD0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96671" y="239151"/>
            <a:ext cx="4598447" cy="6386731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6AF5B4D2-3F33-4F12-7829-2662896073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0625" y="1254125"/>
            <a:ext cx="2190750" cy="4294299"/>
          </a:xfrm>
          <a:prstGeom prst="rect">
            <a:avLst/>
          </a:prstGeom>
          <a:solidFill>
            <a:srgbClr val="CC0000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78611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creen služby mobil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49BDC1B-FFAC-C269-46E4-CE9386F25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43667" y="3470888"/>
            <a:ext cx="3333843" cy="110013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2100"/>
              </a:lnSpc>
              <a:spcBef>
                <a:spcPts val="0"/>
              </a:spcBef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 err="1"/>
              <a:t>Někdy</a:t>
            </a:r>
            <a:r>
              <a:rPr lang="en-GB" dirty="0"/>
              <a:t> </a:t>
            </a:r>
            <a:r>
              <a:rPr lang="en-GB" dirty="0" err="1"/>
              <a:t>jen</a:t>
            </a:r>
            <a:r>
              <a:rPr lang="en-GB" dirty="0"/>
              <a:t> screen </a:t>
            </a:r>
            <a:r>
              <a:rPr lang="en-GB" dirty="0" err="1"/>
              <a:t>nestačí</a:t>
            </a:r>
            <a:r>
              <a:rPr lang="en-GB" dirty="0"/>
              <a:t>. </a:t>
            </a:r>
            <a:r>
              <a:rPr lang="en-GB" dirty="0" err="1"/>
              <a:t>Upozorni</a:t>
            </a:r>
            <a:r>
              <a:rPr lang="en-GB" dirty="0"/>
              <a:t>, </a:t>
            </a:r>
            <a:r>
              <a:rPr lang="en-GB" dirty="0" err="1"/>
              <a:t>na</a:t>
            </a:r>
            <a:r>
              <a:rPr lang="en-GB" dirty="0"/>
              <a:t> co se </a:t>
            </a:r>
            <a:r>
              <a:rPr lang="en-GB" dirty="0" err="1"/>
              <a:t>má</a:t>
            </a:r>
            <a:r>
              <a:rPr lang="en-GB" dirty="0"/>
              <a:t> </a:t>
            </a:r>
            <a:r>
              <a:rPr lang="en-GB" dirty="0" err="1"/>
              <a:t>čtenář</a:t>
            </a:r>
            <a:r>
              <a:rPr lang="en-GB" dirty="0"/>
              <a:t> </a:t>
            </a:r>
            <a:r>
              <a:rPr lang="en-GB" dirty="0" err="1"/>
              <a:t>zaměřit</a:t>
            </a:r>
            <a:r>
              <a:rPr lang="en-GB" dirty="0"/>
              <a:t>, aby </a:t>
            </a:r>
            <a:r>
              <a:rPr lang="en-GB" dirty="0" err="1"/>
              <a:t>pochopil</a:t>
            </a:r>
            <a:r>
              <a:rPr lang="en-GB" dirty="0"/>
              <a:t> </a:t>
            </a:r>
            <a:r>
              <a:rPr lang="en-GB" dirty="0" err="1"/>
              <a:t>souvislosti</a:t>
            </a:r>
            <a:r>
              <a:rPr lang="en-GB" dirty="0"/>
              <a:t>. </a:t>
            </a:r>
            <a:endParaRPr lang="en-CZ" dirty="0"/>
          </a:p>
        </p:txBody>
      </p:sp>
      <p:pic>
        <p:nvPicPr>
          <p:cNvPr id="6" name="Grafický objekt 1">
            <a:extLst>
              <a:ext uri="{FF2B5EF4-FFF2-40B4-BE49-F238E27FC236}">
                <a16:creationId xmlns:a16="http://schemas.microsoft.com/office/drawing/2014/main" id="{4FB43E05-3AFF-1C39-B7A0-2156B0C66F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49148" y="3159570"/>
            <a:ext cx="246854" cy="246854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988965B2-A7B5-EF9E-E4B4-A181005FD0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892046" y="239151"/>
            <a:ext cx="4598447" cy="6386731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6AF5B4D2-3F33-4F12-7829-2662896073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1254125"/>
            <a:ext cx="2190750" cy="4294299"/>
          </a:xfrm>
          <a:prstGeom prst="rect">
            <a:avLst/>
          </a:prstGeom>
          <a:solidFill>
            <a:srgbClr val="CC0000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25986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creeny 2 mobi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3">
            <a:extLst>
              <a:ext uri="{FF2B5EF4-FFF2-40B4-BE49-F238E27FC236}">
                <a16:creationId xmlns:a16="http://schemas.microsoft.com/office/drawing/2014/main" id="{C193CDDE-B5EB-6266-FA03-E604B214F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099701" y="239151"/>
            <a:ext cx="4598447" cy="6386731"/>
          </a:xfrm>
          <a:prstGeom prst="rect">
            <a:avLst/>
          </a:prstGeom>
        </p:spPr>
      </p:pic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A18BDE41-C49F-571A-F7AD-E2BF2C13FD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03655" y="1254125"/>
            <a:ext cx="2190750" cy="4294299"/>
          </a:xfrm>
          <a:prstGeom prst="rect">
            <a:avLst/>
          </a:prstGeom>
          <a:solidFill>
            <a:srgbClr val="CC0000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16" name="Obrázek 15">
            <a:extLst>
              <a:ext uri="{FF2B5EF4-FFF2-40B4-BE49-F238E27FC236}">
                <a16:creationId xmlns:a16="http://schemas.microsoft.com/office/drawing/2014/main" id="{D324321B-E552-22CF-E4D4-DFA22F18EA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501254" y="239151"/>
            <a:ext cx="4598447" cy="6386731"/>
          </a:xfrm>
          <a:prstGeom prst="rect">
            <a:avLst/>
          </a:prstGeom>
        </p:spPr>
      </p:pic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AA01DB1C-8373-F000-DEB4-F629A072C1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05208" y="1254125"/>
            <a:ext cx="2190750" cy="4294299"/>
          </a:xfrm>
          <a:prstGeom prst="rect">
            <a:avLst/>
          </a:prstGeom>
          <a:solidFill>
            <a:srgbClr val="CC0000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811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25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745" r:id="rId2"/>
    <p:sldLayoutId id="2147483696" r:id="rId3"/>
    <p:sldLayoutId id="2147483663" r:id="rId4"/>
    <p:sldLayoutId id="2147483761" r:id="rId5"/>
    <p:sldLayoutId id="2147483747" r:id="rId6"/>
    <p:sldLayoutId id="2147483759" r:id="rId7"/>
    <p:sldLayoutId id="2147483712" r:id="rId8"/>
    <p:sldLayoutId id="2147483692" r:id="rId9"/>
    <p:sldLayoutId id="2147483713" r:id="rId10"/>
    <p:sldLayoutId id="2147483714" r:id="rId11"/>
    <p:sldLayoutId id="2147483715" r:id="rId12"/>
    <p:sldLayoutId id="2147483750" r:id="rId13"/>
    <p:sldLayoutId id="2147483751" r:id="rId14"/>
    <p:sldLayoutId id="2147483716" r:id="rId15"/>
    <p:sldLayoutId id="2147483719" r:id="rId16"/>
    <p:sldLayoutId id="2147483755" r:id="rId17"/>
    <p:sldLayoutId id="2147483699" r:id="rId18"/>
    <p:sldLayoutId id="2147483701" r:id="rId19"/>
    <p:sldLayoutId id="2147483767" r:id="rId20"/>
    <p:sldLayoutId id="2147483766" r:id="rId21"/>
    <p:sldLayoutId id="2147483763" r:id="rId22"/>
    <p:sldLayoutId id="2147483764" r:id="rId23"/>
    <p:sldLayoutId id="2147483765" r:id="rId24"/>
    <p:sldLayoutId id="2147483708" r:id="rId25"/>
    <p:sldLayoutId id="2147483769" r:id="rId26"/>
    <p:sldLayoutId id="2147483768" r:id="rId27"/>
    <p:sldLayoutId id="2147483770" r:id="rId28"/>
    <p:sldLayoutId id="2147483771" r:id="rId29"/>
    <p:sldLayoutId id="2147483772" r:id="rId30"/>
    <p:sldLayoutId id="2147483703" r:id="rId31"/>
    <p:sldLayoutId id="2147483774" r:id="rId32"/>
    <p:sldLayoutId id="2147483773" r:id="rId33"/>
    <p:sldLayoutId id="2147483762" r:id="rId34"/>
    <p:sldLayoutId id="2147483722" r:id="rId35"/>
    <p:sldLayoutId id="2147483721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pos="551">
          <p15:clr>
            <a:srgbClr val="F26B43"/>
          </p15:clr>
        </p15:guide>
        <p15:guide id="5" pos="7129">
          <p15:clr>
            <a:srgbClr val="F26B43"/>
          </p15:clr>
        </p15:guide>
        <p15:guide id="6" orient="horz" pos="3748">
          <p15:clr>
            <a:srgbClr val="F26B43"/>
          </p15:clr>
        </p15:guide>
        <p15:guide id="7" pos="4044">
          <p15:clr>
            <a:srgbClr val="F26B43"/>
          </p15:clr>
        </p15:guide>
        <p15:guide id="8" pos="36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5029200" cy="66202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Arial"/>
              </a:rPr>
              <a:t>Sklik Event
Measurement</a:t>
            </a:r>
          </a:p>
          <a:p>
            <a:pPr>
              <a:spcBef>
                <a:spcPts val="1600"/>
              </a:spcBef>
            </a:pPr>
            <a:r>
              <a:rPr sz="2800" b="0">
                <a:solidFill>
                  <a:srgbClr val="FFFFFF"/>
                </a:solidFill>
                <a:latin typeface="Arial"/>
              </a:rPr>
              <a:t>SEM</a:t>
            </a:r>
          </a:p>
          <a:p>
            <a:pPr>
              <a:spcBef>
                <a:spcPts val="3200"/>
              </a:spcBef>
            </a:pPr>
            <a:r>
              <a:rPr sz="1800" b="0">
                <a:solidFill>
                  <a:srgbClr val="FFFFFF"/>
                </a:solidFill>
                <a:latin typeface="Arial"/>
              </a:rPr>
              <a:t>Interní představení</a:t>
            </a:r>
          </a:p>
          <a:p>
            <a:r>
              <a:rPr sz="1600" b="0">
                <a:solidFill>
                  <a:srgbClr val="FFCCCC"/>
                </a:solidFill>
                <a:latin typeface="Arial"/>
              </a:rPr>
              <a:t>Sklik, jaro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011680"/>
            <a:ext cx="6217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Kuba</a:t>
            </a:r>
          </a:p>
          <a:p>
            <a:r>
              <a:rPr sz="1400" b="0">
                <a:solidFill>
                  <a:srgbClr val="666666"/>
                </a:solidFill>
                <a:latin typeface="Arial"/>
              </a:rPr>
              <a:t>Product manager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Pepa</a:t>
            </a:r>
          </a:p>
          <a:p>
            <a:r>
              <a:rPr sz="1400" b="0">
                <a:solidFill>
                  <a:srgbClr val="666666"/>
                </a:solidFill>
                <a:latin typeface="Arial"/>
              </a:rPr>
              <a:t>Product manager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Radek</a:t>
            </a:r>
          </a:p>
          <a:p>
            <a:r>
              <a:rPr sz="1400" b="0">
                <a:solidFill>
                  <a:srgbClr val="666666"/>
                </a:solidFill>
                <a:latin typeface="Arial"/>
              </a:rPr>
              <a:t>Partnerské integrace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David</a:t>
            </a:r>
          </a:p>
          <a:p>
            <a:r>
              <a:rPr sz="1400" b="0">
                <a:solidFill>
                  <a:srgbClr val="666666"/>
                </a:solidFill>
                <a:latin typeface="Arial"/>
              </a:rPr>
              <a:t>ONK &amp; Seznam Nákupy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Nikča</a:t>
            </a:r>
          </a:p>
          <a:p>
            <a:r>
              <a:rPr sz="1400" b="0">
                <a:solidFill>
                  <a:srgbClr val="666666"/>
                </a:solidFill>
                <a:latin typeface="Arial"/>
              </a:rPr>
              <a:t>Správa měření &amp; migrace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TBD</a:t>
            </a:r>
          </a:p>
          <a:p>
            <a:r>
              <a:rPr sz="1400" b="0">
                <a:solidFill>
                  <a:srgbClr val="666666"/>
                </a:solidFill>
                <a:latin typeface="Arial"/>
              </a:rPr>
              <a:t>Zboží.cz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Agenda dnešního představení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600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Část 1 – ~60 min
Pro obchod, specialisty a konzultanty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4884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Úvod a kontext (Kuba + Pepa)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Co SEM umí pro inzerenty (Kuba + Pepa)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ONK a Seznam Nákupy (David)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Zboží.cz (TBD)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Integrace u partnerů (Radek)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Sandbox – ukázka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Dotazy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Část 2 – ~30 min
Technická část pro konzultanty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Skript, ID, implementace (Kuba + Pepa)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Sandbox, migrace, aktivace (Nikča)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Dotazy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2377440"/>
            <a:ext cx="7315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Arial"/>
              </a:rPr>
              <a:t>Část 1</a:t>
            </a:r>
          </a:p>
          <a:p>
            <a:pPr>
              <a:spcBef>
                <a:spcPts val="800"/>
              </a:spcBef>
            </a:pPr>
            <a:r>
              <a:rPr sz="2200" b="0">
                <a:solidFill>
                  <a:srgbClr val="666666"/>
                </a:solidFill>
                <a:latin typeface="Arial"/>
              </a:rPr>
              <a:t>Pro obchod, specialisty a konzultanty  ·  ~60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Co je Sklik Event Measurement (SEM)?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Kuba + Pepa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Nový systém měření událostí na webu inzerenta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Nahrazuje dosavadní retargetingový kód a konverzní skripty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Jeden skript (sul.js) místo dvou oddělených kódů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Sjednocuje sběr dat pro kampaně, retargeting i optimalizaci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     ·  Plánované spuštění: konec března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Co SEM nahrazuje a co přidává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Kuba + Pepa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00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Před SEM (stará měření)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Retargetingový kód zvlášť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Konverzní skript zvlášť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Ruční správa RTG seznamů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Omezené podmínky retargetingu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Bez Server-to-Server podpory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Bez párování přes e-mail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Po přechodu na SEM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Jeden skript sul.js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Konverze i retargeting z jednoho místa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Automatické RTG seznamy ke každé konverzi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Podmínky: hodnota, produkt, město, pohlaví…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Server-to-Server měření (S2S)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Hashovaný e-mail pro přesné propojení identit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Jak přechod probíhá – 3 fáze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Kuba + Pepa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 b="0">
                <a:solidFill>
                  <a:srgbClr val="000000"/>
                </a:solidFill>
                <a:latin typeface="Arial"/>
              </a:rPr>
              <a:t>–  Fáze 1 – Přístup a příprava</a:t>
            </a:r>
          </a:p>
          <a:p>
            <a:pPr lvl="1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Arial"/>
              </a:rPr>
              <a:t>     ·  SEM ID od konzultanta, nastavení v Správě měření</a:t>
            </a:r>
          </a:p>
          <a:p>
            <a:pPr>
              <a:spcBef>
                <a:spcPts val="300"/>
              </a:spcBef>
            </a:pPr>
            <a:r>
              <a:rPr sz="1700" b="0">
                <a:solidFill>
                  <a:srgbClr val="000000"/>
                </a:solidFill>
                <a:latin typeface="Arial"/>
              </a:rPr>
              <a:t>–  Fáze 2 – Nasazení a testování</a:t>
            </a:r>
          </a:p>
          <a:p>
            <a:pPr lvl="1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Arial"/>
              </a:rPr>
              <a:t>     ·  Paralelní provoz se starými skripty, ověření v sandboxu</a:t>
            </a:r>
          </a:p>
          <a:p>
            <a:pPr lvl="1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Arial"/>
              </a:rPr>
              <a:t>     ·  Stará měření fungují beze změny</a:t>
            </a:r>
          </a:p>
          <a:p>
            <a:pPr>
              <a:spcBef>
                <a:spcPts val="300"/>
              </a:spcBef>
            </a:pPr>
            <a:r>
              <a:rPr sz="1700" b="0">
                <a:solidFill>
                  <a:srgbClr val="000000"/>
                </a:solidFill>
                <a:latin typeface="Arial"/>
              </a:rPr>
              <a:t>–  Fáze 3 – Přepnutí</a:t>
            </a:r>
          </a:p>
          <a:p>
            <a:pPr lvl="1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Arial"/>
              </a:rPr>
              <a:t>     ·  Klik na „Začít používat SEM" v rozhraní Skliku</a:t>
            </a:r>
          </a:p>
          <a:p>
            <a:pPr lvl="1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Arial"/>
              </a:rPr>
              <a:t>     ·  Staré kódy přestanou fungovat – přepnutí nelze vrátit zpět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Co SEM umí – výhody pro inzerenty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Kuba + Pepa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Přesnější měření konverzí (jeden skript, méně chyb)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Retargeting s novými podmínkami – hodnota nákupu, produkt ID, kategorie, pohlaví, město…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Dynamický retargeting produktů a kategorií (DRTG)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Párování přes hashovaný e-mail – přesnější propojení identit napříč zařízeními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Server-to-Server měření pro weby s vlastním backendem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Podpora Google Consent Mode v2 a IAB TCF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Příprava na svět bez 3rd party cookies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2377440"/>
            <a:ext cx="7315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Arial"/>
              </a:rPr>
              <a:t>ONK a Seznam Nákupy</a:t>
            </a:r>
          </a:p>
          <a:p>
            <a:pPr>
              <a:spcBef>
                <a:spcPts val="800"/>
              </a:spcBef>
            </a:pPr>
            <a:r>
              <a:rPr sz="2200" b="0">
                <a:solidFill>
                  <a:srgbClr val="666666"/>
                </a:solidFill>
                <a:latin typeface="Arial"/>
              </a:rPr>
              <a:t>David  ·  ~10 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Vazba na Maximalizaci konverzí (ONK)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David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SEM data jsou zdrojem pro automatické bidding strategie (ONK)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Přesnější a bohatší data → lepší výkon automatizace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ONK je nyní plně kompatibilní se SEM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Doporučujeme přejít co nejdřív – čím více dat, tím lepší výsledky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Seznam Nákupy a provozovny Zboží.cz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David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Každá provozovna Zboží.cz má vlastní kombinované SEM ID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Kombinované SEM ID zajistí správné přiřazení nákupních konverzí ke kampani Nákupy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Samostatné SEM ID účtu se u provozoven v rozhraní nezobrazí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Při přesunu provozovny do jiného účtu SEM ID zaniká → je nutná aktualizace implementace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2377440"/>
            <a:ext cx="7315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Arial"/>
              </a:rPr>
              <a:t>Zboží.cz pohled</a:t>
            </a:r>
          </a:p>
          <a:p>
            <a:pPr>
              <a:spcBef>
                <a:spcPts val="800"/>
              </a:spcBef>
            </a:pPr>
            <a:r>
              <a:rPr sz="2200" b="0">
                <a:solidFill>
                  <a:srgbClr val="666666"/>
                </a:solidFill>
                <a:latin typeface="Arial"/>
              </a:rPr>
              <a:t>TBD  ·  ~5 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Zboží.cz – specifika pro SEM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TBD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Parametr review_email – e-mail zákazníka pro dotazník spokojenosti Zboží.cz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POZOR: review_email se NESMÍ hashovat (na rozdíl od ostatních e-mailů)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Předávat jen pokud zákazník nevyjádřil nesouhlas se zasíláním dotazníků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Napojení provozoven: každá má vlastní SEM ID i SEM ID pro S2S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Přesun provozovny do jiného Sklik účtu → SEM ID zaniká, inzerent bude upozorněn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2377440"/>
            <a:ext cx="7315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Arial"/>
              </a:rPr>
              <a:t>Integrace u partnerů</a:t>
            </a:r>
          </a:p>
          <a:p>
            <a:pPr>
              <a:spcBef>
                <a:spcPts val="800"/>
              </a:spcBef>
            </a:pPr>
            <a:r>
              <a:rPr sz="2200" b="0">
                <a:solidFill>
                  <a:srgbClr val="666666"/>
                </a:solidFill>
                <a:latin typeface="Arial"/>
              </a:rPr>
              <a:t>Radek  ·  ~10 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Jak mohou inzerenti SEM nasadit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Radek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00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GTM šablona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Pavel Šabatka / GTM Gallery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Bez zásahu do kódu webu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Podporuje GA4 Enhanced Ecommerce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Funguje i pro Shoptet, MeasureHive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SEM ID stačí zkopírovat z rozhraní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E-commerce platformy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Shoptet – nativní doplněk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Upgates – nativní integrace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PrestaShop – plugin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Stačí zadat SEM ID do nastavení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Platforma odesílá události automaticky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Přímý skript a Server-to-Server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Radek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00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Přímý skript (sul.js)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Pro vývojáře s přístupem ke kódu webu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Kód zkopírovat přes „Zobrazit SEM kód"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Vhodné pro weby bez e-commerce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Automaticky měří PageView, consent,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Server-to-Server (S2S)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Pro weby s vlastním backendem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HTTP POST na sem.seznam.cz/rtgconv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FE skript stále nutný (generuje cookies)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Inzerent hashuje osobní data sám (SHA-256)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Zvýšená spolehlivost – obchází ad-blockery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Sandbox – testování před spuštěním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Testovací nástroj pro ověření SEM implementace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Zobrazuje přijatá data v reálném čase – události, parametry, hodnoty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Inzerent vidí, co přesně odesílá před tím, než přepne na ostré měření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Konzultant může sandbox použít při onboardingu a troubleshooting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→ Ukázka živého sandboxu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554480"/>
            <a:ext cx="5303520" cy="438912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329184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Arial"/>
              </a:rPr>
              <a:t>📸 Screenshot sandboxu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2377440"/>
            <a:ext cx="7315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Arial"/>
              </a:rPr>
              <a:t>Dotazy</a:t>
            </a:r>
          </a:p>
          <a:p>
            <a:pPr>
              <a:spcBef>
                <a:spcPts val="800"/>
              </a:spcBef>
            </a:pPr>
            <a:r>
              <a:rPr sz="2200" b="0">
                <a:solidFill>
                  <a:srgbClr val="666666"/>
                </a:solidFill>
                <a:latin typeface="Arial"/>
              </a:rPr>
              <a:t>Část 1 – obchodní část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2377440"/>
            <a:ext cx="7315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Arial"/>
              </a:rPr>
              <a:t>Část 2</a:t>
            </a:r>
          </a:p>
          <a:p>
            <a:pPr>
              <a:spcBef>
                <a:spcPts val="800"/>
              </a:spcBef>
            </a:pPr>
            <a:r>
              <a:rPr sz="2200" b="0">
                <a:solidFill>
                  <a:srgbClr val="666666"/>
                </a:solidFill>
                <a:latin typeface="Arial"/>
              </a:rPr>
              <a:t>Technická část pro konzultanty  ·  ~30 min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sul.js – jak skript funguje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Kuba + Pepa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Skript se načítá z https://l.seznam.cz/sul.js?id={SEM_ID}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SEM ID se vkládá do URL skriptu – získat přes „Zobrazit SEM kód" v rozhraní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Po načtení je dostupná globální funkce window.SEM()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Automaticky odesílá PageView, zpracovává consent z IAB TCF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Generuje cookies sid a udid – nezbytné i pro S2S měření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Identifikátory – kde je najít a jak je použít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Kuba + Pepa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00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SEM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Najít: Nastavení účtu → Správa měření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„Zobrazit SEM kód" → celý &lt;script&gt; tag pro HTML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„Zkopírovat" → samotné ID pro GTM nebo plugin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Pro e-shopy s provozovnami: kombinované SEM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SEM ID pro S2S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Viditelné po zapnutí „Zobrazit pokročilé nastavení"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Parametr sem_id v S2S payloadu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Každá provozovna má vlastní SEM ID pro S2S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Nepoužívat pro FE skript – jen pro S2S volání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Klíčové události a parametry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Kuba + Pepa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 b="0">
                <a:solidFill>
                  <a:srgbClr val="000000"/>
                </a:solidFill>
                <a:latin typeface="Arial"/>
              </a:rPr>
              <a:t>–  SEM('track', 'NázevUdálosti', { parametry })</a:t>
            </a:r>
          </a:p>
          <a:p>
            <a:pPr>
              <a:spcBef>
                <a:spcPts val="300"/>
              </a:spcBef>
            </a:pPr>
            <a:r>
              <a:rPr sz="1700" b="0">
                <a:solidFill>
                  <a:srgbClr val="000000"/>
                </a:solidFill>
                <a:latin typeface="Arial"/>
              </a:rPr>
              <a:t>–  Povinné parametry: pouze u Purchase → order_id, currency, value, value_tax</a:t>
            </a:r>
          </a:p>
          <a:p>
            <a:pPr>
              <a:spcBef>
                <a:spcPts val="300"/>
              </a:spcBef>
            </a:pPr>
            <a:r>
              <a:rPr sz="1700" b="0">
                <a:solidFill>
                  <a:srgbClr val="000000"/>
                </a:solidFill>
                <a:latin typeface="Arial"/>
              </a:rPr>
              <a:t>–  Doporučené u e-commerce: content_type, contents[], review_email</a:t>
            </a:r>
          </a:p>
          <a:p>
            <a:pPr>
              <a:spcBef>
                <a:spcPts val="300"/>
              </a:spcBef>
            </a:pPr>
            <a:r>
              <a:rPr sz="1700" b="0">
                <a:solidFill>
                  <a:srgbClr val="000000"/>
                </a:solidFill>
                <a:latin typeface="Arial"/>
              </a:rPr>
              <a:t>–  Speciální pravidla:</a:t>
            </a:r>
          </a:p>
          <a:p>
            <a:pPr lvl="1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Arial"/>
              </a:rPr>
              <a:t>     ·  review_email NESMÍ být hashován (dotazník Zboží.cz)</a:t>
            </a:r>
          </a:p>
          <a:p>
            <a:pPr lvl="1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Arial"/>
              </a:rPr>
              <a:t>     ·  currency vždy CZK – ostatní měny přepočítat</a:t>
            </a:r>
          </a:p>
          <a:p>
            <a:pPr lvl="1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Arial"/>
              </a:rPr>
              <a:t>     ·  contents[].id musí odpovídat ITEM_ID v XML feedu pro DRTG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Consent a souhlas uživatele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Kuba + Pepa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00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IAB TCF (automaticky)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Pokud web používá TCF, SEM ho detekuje sám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Není potřeba žádný kód navíc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TCF má přednost před Google Consent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Google Consent Mode (manuálně)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SEM('updateConsent', { consent_mode: {...} })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Klíče: ad_storage, ad_user_data, ad_personalization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Volat před prvním SEM('track', ...) voláním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Výchozí stav: denied, po souhlasu: granted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Uživatelská data a hashování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Kuba + Pepa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SEM('updateUserData', { em: 'email@example.cz', ... })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FE skript hashuje automaticky (SHA-256) – inzerent předává čistá data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S2S: inzerent musí hashovat sám před odesláním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Klíčový parametr: em (e-mail) – před hashováním lowercase, bez mezer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     ·  review_email výjimka: nikdy nehashovat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Ostatní parametry: ph, fn, ln, ge, db, ct, zp, sr, country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2377440"/>
            <a:ext cx="7315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Arial"/>
              </a:rPr>
              <a:t>Sandbox, migrace a aktivace</a:t>
            </a:r>
          </a:p>
          <a:p>
            <a:pPr>
              <a:spcBef>
                <a:spcPts val="800"/>
              </a:spcBef>
            </a:pPr>
            <a:r>
              <a:rPr sz="2200" b="0">
                <a:solidFill>
                  <a:srgbClr val="666666"/>
                </a:solidFill>
                <a:latin typeface="Arial"/>
              </a:rPr>
              <a:t>Nikča  ·  ~10 min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Sandbox – jak testovat implementaci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Nikča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Testovací prostředí na sandbox.sabatka.net/sklik (přechodně)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Zobrazuje přijatá data: název události, parametry, hodnoty, čas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Jak ověřit: otevřít sandbox → provést akci na webu → zkontrolovat přijatá data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Co zkontrolovat: zda dorazí správné události, zda jsou vyplněny povinné parametry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  <a:latin typeface="Arial"/>
              </a:rPr>
              <a:t>–  Chybějící nebo chybné parametry jsou viditelné okamžitě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Průvodce migrací – 3 fáze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Nikča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Fáze 1: Přístup a příprava</a:t>
            </a:r>
          </a:p>
          <a:p>
            <a:pPr lvl="1">
              <a:spcBef>
                <a:spcPts val="300"/>
              </a:spcBef>
            </a:pPr>
            <a:r>
              <a:rPr sz="1400" b="0">
                <a:solidFill>
                  <a:srgbClr val="000000"/>
                </a:solidFill>
                <a:latin typeface="Arial"/>
              </a:rPr>
              <a:t>     ·  SEM ID získat ze Správy měření, připravit konverze a RTG seznamy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Fáze 2: Nasazení a testování</a:t>
            </a:r>
          </a:p>
          <a:p>
            <a:pPr lvl="1">
              <a:spcBef>
                <a:spcPts val="300"/>
              </a:spcBef>
            </a:pPr>
            <a:r>
              <a:rPr sz="1400" b="0">
                <a:solidFill>
                  <a:srgbClr val="000000"/>
                </a:solidFill>
                <a:latin typeface="Arial"/>
              </a:rPr>
              <a:t>     ·  Nasadit paralelně se starými kódy, ověřit v sandboxu</a:t>
            </a:r>
          </a:p>
          <a:p>
            <a:pPr lvl="1">
              <a:spcBef>
                <a:spcPts val="300"/>
              </a:spcBef>
            </a:pPr>
            <a:r>
              <a:rPr sz="1400" b="0">
                <a:solidFill>
                  <a:srgbClr val="000000"/>
                </a:solidFill>
                <a:latin typeface="Arial"/>
              </a:rPr>
              <a:t>     ·  Stará měření stále fungují – bez rizika výpadku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Fáze 3: Přepnutí a vyčištění</a:t>
            </a:r>
          </a:p>
          <a:p>
            <a:pPr lvl="1">
              <a:spcBef>
                <a:spcPts val="300"/>
              </a:spcBef>
            </a:pPr>
            <a:r>
              <a:rPr sz="1400" b="0">
                <a:solidFill>
                  <a:srgbClr val="000000"/>
                </a:solidFill>
                <a:latin typeface="Arial"/>
              </a:rPr>
              <a:t>     ·  Klik na „Začít používat SEM" → od teď platí pouze nová data</a:t>
            </a:r>
          </a:p>
          <a:p>
            <a:pPr lvl="1">
              <a:spcBef>
                <a:spcPts val="300"/>
              </a:spcBef>
            </a:pPr>
            <a:r>
              <a:rPr sz="1400" b="0">
                <a:solidFill>
                  <a:srgbClr val="000000"/>
                </a:solidFill>
                <a:latin typeface="Arial"/>
              </a:rPr>
              <a:t>     ·  Odebrat staré retargetingové a konverzní kódy ze stránek</a:t>
            </a:r>
          </a:p>
          <a:p>
            <a:pPr lvl="1">
              <a:spcBef>
                <a:spcPts val="300"/>
              </a:spcBef>
            </a:pPr>
            <a:r>
              <a:rPr sz="1400" b="0">
                <a:solidFill>
                  <a:srgbClr val="000000"/>
                </a:solidFill>
                <a:latin typeface="Arial"/>
              </a:rPr>
              <a:t>     ·  Staré RTG seznamy z konverzí zanikají po 60 dnech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Arial"/>
              </a:rPr>
              <a:t>Správa měření – konverze a retargeting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17320"/>
            <a:ext cx="365760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6263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Nikča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00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Konverze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Správa měření → záložka Konverze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Vázány na SEM událost (Purchase, Lead…)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Nastavit: název, hodnota, okno konverze, podmínky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Doporučujeme nastavit před přepnutím na SEM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Retargetingové seznamy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Automaticky ke každé konverzní události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Vlastní seznam: kombinace podmínek (URL, produkt, hodnota…)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Podmínky AND/OR přes pole contents[]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Nové RTG seznamy aktivní ihned po přepnutí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00000"/>
                </a:solidFill>
                <a:latin typeface="Arial"/>
              </a:rPr>
              <a:t>–  Staré seznamy (stará měření) fungují 60 dní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2377440"/>
            <a:ext cx="7315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Arial"/>
              </a:rPr>
              <a:t>Dotazy</a:t>
            </a:r>
          </a:p>
          <a:p>
            <a:pPr>
              <a:spcBef>
                <a:spcPts val="800"/>
              </a:spcBef>
            </a:pPr>
            <a:r>
              <a:rPr sz="2200" b="0">
                <a:solidFill>
                  <a:srgbClr val="666666"/>
                </a:solidFill>
                <a:latin typeface="Arial"/>
              </a:rPr>
              <a:t>Část 2 – technická část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5029200" cy="66202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Arial"/>
              </a:rPr>
              <a:t>Díky
za pozornost</a:t>
            </a:r>
          </a:p>
          <a:p>
            <a:pPr>
              <a:spcBef>
                <a:spcPts val="2400"/>
              </a:spcBef>
            </a:pPr>
            <a:r>
              <a:rPr sz="1600" b="0">
                <a:solidFill>
                  <a:srgbClr val="FFCCCC"/>
                </a:solidFill>
                <a:latin typeface="Arial"/>
              </a:rPr>
              <a:t>Dokumentace SEM je dostupná
na interní dokumentační stránce.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2860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Kuba</a:t>
            </a:r>
          </a:p>
          <a:p>
            <a:r>
              <a:rPr sz="1400" b="0">
                <a:solidFill>
                  <a:srgbClr val="666666"/>
                </a:solidFill>
                <a:latin typeface="Arial"/>
              </a:rPr>
              <a:t>Product manager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Pepa</a:t>
            </a:r>
          </a:p>
          <a:p>
            <a:r>
              <a:rPr sz="1400" b="0">
                <a:solidFill>
                  <a:srgbClr val="666666"/>
                </a:solidFill>
                <a:latin typeface="Arial"/>
              </a:rPr>
              <a:t>Product manager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Radek</a:t>
            </a:r>
          </a:p>
          <a:p>
            <a:r>
              <a:rPr sz="1400" b="0">
                <a:solidFill>
                  <a:srgbClr val="666666"/>
                </a:solidFill>
                <a:latin typeface="Arial"/>
              </a:rPr>
              <a:t>Partnerské integrace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David</a:t>
            </a:r>
          </a:p>
          <a:p>
            <a:r>
              <a:rPr sz="1400" b="0">
                <a:solidFill>
                  <a:srgbClr val="666666"/>
                </a:solidFill>
                <a:latin typeface="Arial"/>
              </a:rPr>
              <a:t>ONK &amp; Seznam Nákupy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Nikča</a:t>
            </a:r>
          </a:p>
          <a:p>
            <a:r>
              <a:rPr sz="1400" b="0">
                <a:solidFill>
                  <a:srgbClr val="666666"/>
                </a:solidFill>
                <a:latin typeface="Arial"/>
              </a:rPr>
              <a:t>Správa měření &amp; migrace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TBD</a:t>
            </a:r>
          </a:p>
          <a:p>
            <a:r>
              <a:rPr sz="1400" b="0">
                <a:solidFill>
                  <a:srgbClr val="666666"/>
                </a:solidFill>
                <a:latin typeface="Arial"/>
              </a:rPr>
              <a:t>Zboží.cz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znam Vzorová Prezentace 2023">
  <a:themeElements>
    <a:clrScheme name="Seznam_cz">
      <a:dk1>
        <a:srgbClr val="000000"/>
      </a:dk1>
      <a:lt1>
        <a:srgbClr val="FFFFFF"/>
      </a:lt1>
      <a:dk2>
        <a:srgbClr val="DE0000"/>
      </a:dk2>
      <a:lt2>
        <a:srgbClr val="E7E6E6"/>
      </a:lt2>
      <a:accent1>
        <a:srgbClr val="7F7F7F"/>
      </a:accent1>
      <a:accent2>
        <a:srgbClr val="A5A5A5"/>
      </a:accent2>
      <a:accent3>
        <a:srgbClr val="D8D8D8"/>
      </a:accent3>
      <a:accent4>
        <a:srgbClr val="C9C9C9"/>
      </a:accent4>
      <a:accent5>
        <a:srgbClr val="6C6C6C"/>
      </a:accent5>
      <a:accent6>
        <a:srgbClr val="A2A2A2"/>
      </a:accent6>
      <a:hlink>
        <a:srgbClr val="DE0000"/>
      </a:hlink>
      <a:folHlink>
        <a:srgbClr val="DE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3600" b="1" kern="0" dirty="0">
            <a:latin typeface="Arial" panose="020B0604020202020204" pitchFamily="34" charset="0"/>
            <a:ea typeface="Inter" panose="02000503000000020004" pitchFamily="2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 2013–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0d8082-5010-43fb-ae71-c7076085ccaf">
      <Terms xmlns="http://schemas.microsoft.com/office/infopath/2007/PartnerControls"/>
    </lcf76f155ced4ddcb4097134ff3c332f>
    <TaxCatchAll xmlns="33aa6e44-67ee-46b9-9c39-f1d14b0ab2d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C1F096733AED743889A89324FEF4D86" ma:contentTypeVersion="14" ma:contentTypeDescription="Vytvoří nový dokument" ma:contentTypeScope="" ma:versionID="660b8ed1041395ec9a82af91d9970731">
  <xsd:schema xmlns:xsd="http://www.w3.org/2001/XMLSchema" xmlns:xs="http://www.w3.org/2001/XMLSchema" xmlns:p="http://schemas.microsoft.com/office/2006/metadata/properties" xmlns:ns2="150d8082-5010-43fb-ae71-c7076085ccaf" xmlns:ns3="33aa6e44-67ee-46b9-9c39-f1d14b0ab2d5" targetNamespace="http://schemas.microsoft.com/office/2006/metadata/properties" ma:root="true" ma:fieldsID="1439334ff3619efea7afc939e6764a9a" ns2:_="" ns3:_="">
    <xsd:import namespace="150d8082-5010-43fb-ae71-c7076085ccaf"/>
    <xsd:import namespace="33aa6e44-67ee-46b9-9c39-f1d14b0ab2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0d8082-5010-43fb-ae71-c7076085cc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Značky obrázků" ma:readOnly="false" ma:fieldId="{5cf76f15-5ced-4ddc-b409-7134ff3c332f}" ma:taxonomyMulti="true" ma:sspId="525d81c5-4e4f-4a70-8025-e31062633f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aa6e44-67ee-46b9-9c39-f1d14b0ab2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e5a0240-dc85-4b24-98dc-92d0c9e99ba6}" ma:internalName="TaxCatchAll" ma:showField="CatchAllData" ma:web="33aa6e44-67ee-46b9-9c39-f1d14b0ab2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A4CAA1-935D-41C4-B542-A1F5278BBE42}">
  <ds:schemaRefs>
    <ds:schemaRef ds:uri="http://schemas.microsoft.com/office/2006/metadata/properties"/>
    <ds:schemaRef ds:uri="http://schemas.microsoft.com/office/infopath/2007/PartnerControls"/>
    <ds:schemaRef ds:uri="150d8082-5010-43fb-ae71-c7076085ccaf"/>
    <ds:schemaRef ds:uri="33aa6e44-67ee-46b9-9c39-f1d14b0ab2d5"/>
  </ds:schemaRefs>
</ds:datastoreItem>
</file>

<file path=customXml/itemProps2.xml><?xml version="1.0" encoding="utf-8"?>
<ds:datastoreItem xmlns:ds="http://schemas.openxmlformats.org/officeDocument/2006/customXml" ds:itemID="{6C665DB8-FEB5-4DB5-90E5-0B16AE22C0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0d8082-5010-43fb-ae71-c7076085ccaf"/>
    <ds:schemaRef ds:uri="33aa6e44-67ee-46b9-9c39-f1d14b0ab2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9FB05CF-30AA-4C59-B4E8-A0F0012763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57790</TotalTime>
  <Words>1655</Words>
  <Application>Microsoft Macintosh PowerPoint</Application>
  <PresentationFormat>Širokoúhlá obrazovka</PresentationFormat>
  <Paragraphs>232</Paragraphs>
  <Slides>29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29</vt:i4>
      </vt:variant>
    </vt:vector>
  </HeadingPairs>
  <TitlesOfParts>
    <vt:vector size="33" baseType="lpstr">
      <vt:lpstr>Aptos</vt:lpstr>
      <vt:lpstr>Arial</vt:lpstr>
      <vt:lpstr>Calibri</vt:lpstr>
      <vt:lpstr>Seznam Vzorová Prezentace 2023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Konrádová, Petra</dc:creator>
  <cp:lastModifiedBy>Matoušek, Josef</cp:lastModifiedBy>
  <cp:revision>237</cp:revision>
  <dcterms:created xsi:type="dcterms:W3CDTF">2023-01-23T10:29:58Z</dcterms:created>
  <dcterms:modified xsi:type="dcterms:W3CDTF">2026-03-19T11:10:04Z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0x0101000C1F096733AED743889A89324FEF4D86</vt:lpwstr>
  </property>
</Properties>
</file>